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151"/>
        </a:solidFill>
      </p:bgPr>
    </p:bg>
    <p:spTree>
      <p:nvGrpSpPr>
        <p:cNvPr id="1" name=""/>
        <p:cNvGrpSpPr/>
        <p:nvPr/>
      </p:nvGrpSpPr>
      <p:grpSpPr>
        <a:xfrm>
          <a:off x="0" y="0"/>
          <a:ext cx="0" cy="0"/>
          <a:chOff x="0" y="0"/>
          <a:chExt cx="0" cy="0"/>
        </a:xfrm>
      </p:grpSpPr>
      <p:sp>
        <p:nvSpPr>
          <p:cNvPr id="2" name="Shape 0"/>
          <p:cNvSpPr/>
          <p:nvPr/>
        </p:nvSpPr>
        <p:spPr>
          <a:xfrm>
            <a:off x="9052560" y="0"/>
            <a:ext cx="3139135" cy="6858000"/>
          </a:xfrm>
          <a:prstGeom prst="rect">
            <a:avLst/>
          </a:prstGeom>
          <a:solidFill>
            <a:srgbClr val="232B63"/>
          </a:solidFill>
          <a:ln/>
        </p:spPr>
      </p:sp>
      <p:sp>
        <p:nvSpPr>
          <p:cNvPr id="3" name="Shape 1"/>
          <p:cNvSpPr/>
          <p:nvPr/>
        </p:nvSpPr>
        <p:spPr>
          <a:xfrm>
            <a:off x="9006840" y="0"/>
            <a:ext cx="45720" cy="6858000"/>
          </a:xfrm>
          <a:prstGeom prst="rect">
            <a:avLst/>
          </a:prstGeom>
          <a:solidFill>
            <a:srgbClr val="C9A24B"/>
          </a:solidFill>
          <a:ln/>
        </p:spPr>
      </p:sp>
      <p:sp>
        <p:nvSpPr>
          <p:cNvPr id="4" name="Text 2"/>
          <p:cNvSpPr/>
          <p:nvPr/>
        </p:nvSpPr>
        <p:spPr>
          <a:xfrm>
            <a:off x="548640" y="640080"/>
            <a:ext cx="8046720" cy="365760"/>
          </a:xfrm>
          <a:prstGeom prst="rect">
            <a:avLst/>
          </a:prstGeom>
          <a:noFill/>
          <a:ln/>
        </p:spPr>
        <p:txBody>
          <a:bodyPr wrap="square" lIns="0" tIns="0" rIns="0" bIns="0"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B.TECH CSE  —  JOB SIMULATION REPORT</a:t>
            </a:r>
            <a:endParaRPr lang="en-US" sz="1300" dirty="0"/>
          </a:p>
        </p:txBody>
      </p:sp>
      <p:sp>
        <p:nvSpPr>
          <p:cNvPr id="5" name="Text 3"/>
          <p:cNvSpPr/>
          <p:nvPr/>
        </p:nvSpPr>
        <p:spPr>
          <a:xfrm>
            <a:off x="548640" y="1188720"/>
            <a:ext cx="8138160" cy="1371600"/>
          </a:xfrm>
          <a:prstGeom prst="rect">
            <a:avLst/>
          </a:prstGeom>
          <a:noFill/>
          <a:ln/>
        </p:spPr>
        <p:txBody>
          <a:bodyPr wrap="square" lIns="0" tIns="0" rIns="0" bIns="0" rtlCol="0" anchor="ctr"/>
          <a:lstStyle/>
          <a:p>
            <a:pPr indent="0" marL="0">
              <a:lnSpc>
                <a:spcPct val="105000"/>
              </a:lnSpc>
              <a:buNone/>
            </a:pPr>
            <a:r>
              <a:rPr lang="en-US" sz="3400" dirty="0">
                <a:solidFill>
                  <a:srgbClr val="FFFFFF"/>
                </a:solidFill>
                <a:latin typeface="Georgia" pitchFamily="34" charset="0"/>
                <a:ea typeface="Georgia" pitchFamily="34" charset="-122"/>
                <a:cs typeface="Georgia" pitchFamily="34" charset="-120"/>
              </a:rPr>
              <a:t>GenAI Powered Data Analytics Job Simulation</a:t>
            </a:r>
            <a:endParaRPr lang="en-US" sz="3400" dirty="0"/>
          </a:p>
        </p:txBody>
      </p:sp>
      <p:sp>
        <p:nvSpPr>
          <p:cNvPr id="6" name="Text 4"/>
          <p:cNvSpPr/>
          <p:nvPr/>
        </p:nvSpPr>
        <p:spPr>
          <a:xfrm>
            <a:off x="548640" y="2606040"/>
            <a:ext cx="7955280" cy="731520"/>
          </a:xfrm>
          <a:prstGeom prst="rect">
            <a:avLst/>
          </a:prstGeom>
          <a:noFill/>
          <a:ln/>
        </p:spPr>
        <p:txBody>
          <a:bodyPr wrap="square" lIns="0" tIns="0" rIns="0" bIns="0" rtlCol="0" anchor="ctr"/>
          <a:lstStyle/>
          <a:p>
            <a:pPr indent="0" marL="0">
              <a:lnSpc>
                <a:spcPct val="120000"/>
              </a:lnSpc>
              <a:buNone/>
            </a:pPr>
            <a:r>
              <a:rPr lang="en-US" sz="1300" i="1" dirty="0">
                <a:solidFill>
                  <a:srgbClr val="C7CAE0"/>
                </a:solidFill>
                <a:latin typeface="Calibri" pitchFamily="34" charset="0"/>
                <a:ea typeface="Calibri" pitchFamily="34" charset="-122"/>
                <a:cs typeface="Calibri" pitchFamily="34" charset="-120"/>
              </a:rPr>
              <a:t>Tata Group, via Forage: Exploratory Risk Profiling, AI-Driven Delinquency Prediction, and Collections Strategy</a:t>
            </a:r>
            <a:endParaRPr lang="en-US" sz="1300" dirty="0"/>
          </a:p>
        </p:txBody>
      </p:sp>
      <p:sp>
        <p:nvSpPr>
          <p:cNvPr id="7" name="Text 5"/>
          <p:cNvSpPr/>
          <p:nvPr/>
        </p:nvSpPr>
        <p:spPr>
          <a:xfrm>
            <a:off x="548640" y="3657600"/>
            <a:ext cx="7955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School of Computer Science and Engineering</a:t>
            </a:r>
            <a:endParaRPr lang="en-US" sz="1300" dirty="0"/>
          </a:p>
        </p:txBody>
      </p:sp>
      <p:sp>
        <p:nvSpPr>
          <p:cNvPr id="8" name="Text 6"/>
          <p:cNvSpPr/>
          <p:nvPr/>
        </p:nvSpPr>
        <p:spPr>
          <a:xfrm>
            <a:off x="548640" y="3977640"/>
            <a:ext cx="7955280" cy="320040"/>
          </a:xfrm>
          <a:prstGeom prst="rect">
            <a:avLst/>
          </a:prstGeom>
          <a:noFill/>
          <a:ln/>
        </p:spPr>
        <p:txBody>
          <a:bodyPr wrap="square" lIns="0" tIns="0" rIns="0" bIns="0" rtlCol="0" anchor="ctr"/>
          <a:lstStyle/>
          <a:p>
            <a:pPr indent="0" marL="0">
              <a:buNone/>
            </a:pPr>
            <a:r>
              <a:rPr lang="en-US" sz="1300" dirty="0">
                <a:solidFill>
                  <a:srgbClr val="C7CAE0"/>
                </a:solidFill>
                <a:latin typeface="Calibri" pitchFamily="34" charset="0"/>
                <a:ea typeface="Calibri" pitchFamily="34" charset="-122"/>
                <a:cs typeface="Calibri" pitchFamily="34" charset="-120"/>
              </a:rPr>
              <a:t>IILM University, Greater Noida, U.P.</a:t>
            </a:r>
            <a:endParaRPr lang="en-US" sz="1300" dirty="0"/>
          </a:p>
        </p:txBody>
      </p:sp>
      <p:sp>
        <p:nvSpPr>
          <p:cNvPr id="9" name="Text 7"/>
          <p:cNvSpPr/>
          <p:nvPr/>
        </p:nvSpPr>
        <p:spPr>
          <a:xfrm>
            <a:off x="548640" y="4572000"/>
            <a:ext cx="7955280" cy="320040"/>
          </a:xfrm>
          <a:prstGeom prst="rect">
            <a:avLst/>
          </a:prstGeom>
          <a:noFill/>
          <a:ln/>
        </p:spPr>
        <p:txBody>
          <a:bodyPr wrap="square" lIns="0" tIns="0" rIns="0" bIns="0" rtlCol="0" anchor="ctr"/>
          <a:lstStyle/>
          <a:p>
            <a:pPr indent="0" marL="0">
              <a:buNone/>
            </a:pPr>
            <a:r>
              <a:rPr lang="en-US" sz="1500" b="1" dirty="0">
                <a:solidFill>
                  <a:srgbClr val="C9A24B"/>
                </a:solidFill>
                <a:latin typeface="Calibri" pitchFamily="34" charset="0"/>
                <a:ea typeface="Calibri" pitchFamily="34" charset="-122"/>
                <a:cs typeface="Calibri" pitchFamily="34" charset="-120"/>
              </a:rPr>
              <a:t>Sushil Kumar</a:t>
            </a:r>
            <a:endParaRPr lang="en-US" sz="1500" dirty="0"/>
          </a:p>
        </p:txBody>
      </p:sp>
      <p:sp>
        <p:nvSpPr>
          <p:cNvPr id="10" name="Text 8"/>
          <p:cNvSpPr/>
          <p:nvPr/>
        </p:nvSpPr>
        <p:spPr>
          <a:xfrm>
            <a:off x="548640" y="4892040"/>
            <a:ext cx="7955280" cy="320040"/>
          </a:xfrm>
          <a:prstGeom prst="rect">
            <a:avLst/>
          </a:prstGeom>
          <a:noFill/>
          <a:ln/>
        </p:spPr>
        <p:txBody>
          <a:bodyPr wrap="square" lIns="0" tIns="0" rIns="0" bIns="0" rtlCol="0" anchor="ctr"/>
          <a:lstStyle/>
          <a:p>
            <a:pPr indent="0" marL="0">
              <a:buNone/>
            </a:pPr>
            <a:r>
              <a:rPr lang="en-US" sz="1200" dirty="0">
                <a:solidFill>
                  <a:srgbClr val="C7CAE0"/>
                </a:solidFill>
                <a:latin typeface="Calibri" pitchFamily="34" charset="0"/>
                <a:ea typeface="Calibri" pitchFamily="34" charset="-122"/>
                <a:cs typeface="Calibri" pitchFamily="34" charset="-120"/>
              </a:rPr>
              <a:t>Roll No.: 25SCS1003004474   |   Batch: 2025–29   |   Section: 2CSE37</a:t>
            </a:r>
            <a:endParaRPr lang="en-US" sz="1200" dirty="0"/>
          </a:p>
        </p:txBody>
      </p:sp>
      <p:sp>
        <p:nvSpPr>
          <p:cNvPr id="11" name="Text 9"/>
          <p:cNvSpPr/>
          <p:nvPr/>
        </p:nvSpPr>
        <p:spPr>
          <a:xfrm>
            <a:off x="548640" y="5212080"/>
            <a:ext cx="7955280" cy="320040"/>
          </a:xfrm>
          <a:prstGeom prst="rect">
            <a:avLst/>
          </a:prstGeom>
          <a:noFill/>
          <a:ln/>
        </p:spPr>
        <p:txBody>
          <a:bodyPr wrap="square" lIns="0" tIns="0" rIns="0" bIns="0" rtlCol="0" anchor="ctr"/>
          <a:lstStyle/>
          <a:p>
            <a:pPr indent="0" marL="0">
              <a:buNone/>
            </a:pPr>
            <a:r>
              <a:rPr lang="en-US" sz="1200" dirty="0">
                <a:solidFill>
                  <a:srgbClr val="C7CAE0"/>
                </a:solidFill>
                <a:latin typeface="Calibri" pitchFamily="34" charset="0"/>
                <a:ea typeface="Calibri" pitchFamily="34" charset="-122"/>
                <a:cs typeface="Calibri" pitchFamily="34" charset="-120"/>
              </a:rPr>
              <a:t>Program: B.Tech CSE, 3rd Year   |   Organization: Tata Group (via Forage)</a:t>
            </a:r>
            <a:endParaRPr lang="en-US" sz="1200" dirty="0"/>
          </a:p>
        </p:txBody>
      </p:sp>
      <p:sp>
        <p:nvSpPr>
          <p:cNvPr id="12" name="Shape 10"/>
          <p:cNvSpPr/>
          <p:nvPr/>
        </p:nvSpPr>
        <p:spPr>
          <a:xfrm>
            <a:off x="9509760" y="2743200"/>
            <a:ext cx="1737360" cy="1737360"/>
          </a:xfrm>
          <a:prstGeom prst="roundRect">
            <a:avLst>
              <a:gd name="adj" fmla="val 6316"/>
            </a:avLst>
          </a:prstGeom>
          <a:solidFill>
            <a:srgbClr val="FFFFFF"/>
          </a:solidFill>
          <a:ln/>
        </p:spPr>
      </p:sp>
      <p:pic>
        <p:nvPicPr>
          <p:cNvPr id="13" name="Image 0" descr="assets/img-000.png">    </p:cNvPr>
          <p:cNvPicPr>
            <a:picLocks noChangeAspect="1"/>
          </p:cNvPicPr>
          <p:nvPr/>
        </p:nvPicPr>
        <p:blipFill>
          <a:blip r:embed="rId1"/>
          <a:stretch>
            <a:fillRect/>
          </a:stretch>
        </p:blipFill>
        <p:spPr>
          <a:xfrm>
            <a:off x="9720072" y="2953512"/>
            <a:ext cx="1316736" cy="13167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Introduction</a:t>
            </a:r>
            <a:endParaRPr lang="en-US" sz="3000" dirty="0"/>
          </a:p>
        </p:txBody>
      </p:sp>
      <p:sp>
        <p:nvSpPr>
          <p:cNvPr id="3" name="Text 1"/>
          <p:cNvSpPr/>
          <p:nvPr/>
        </p:nvSpPr>
        <p:spPr>
          <a:xfrm>
            <a:off x="548640" y="1371600"/>
            <a:ext cx="6583680" cy="1554480"/>
          </a:xfrm>
          <a:prstGeom prst="rect">
            <a:avLst/>
          </a:prstGeom>
          <a:noFill/>
          <a:ln/>
        </p:spPr>
        <p:txBody>
          <a:bodyPr wrap="square" lIns="0" tIns="0" rIns="0" bIns="0" rtlCol="0" anchor="ctr"/>
          <a:lstStyle/>
          <a:p>
            <a:pPr indent="0" marL="0">
              <a:lnSpc>
                <a:spcPct val="125000"/>
              </a:lnSpc>
              <a:buNone/>
            </a:pPr>
            <a:r>
              <a:rPr lang="en-US" sz="1300" dirty="0">
                <a:solidFill>
                  <a:srgbClr val="5A5F73"/>
                </a:solidFill>
                <a:latin typeface="Calibri" pitchFamily="34" charset="0"/>
                <a:ea typeface="Calibri" pitchFamily="34" charset="-122"/>
                <a:cs typeface="Calibri" pitchFamily="34" charset="-120"/>
              </a:rPr>
              <a:t>A B.Tech CSE report documenting the GenAI Powered Data Analytics Job Simulation, designed and provided by Tata Group and delivered through the Forage virtual experience platform. The simulation was completed in August 2026, with the Certificate of Completion issued on 25 August 2026.</a:t>
            </a:r>
            <a:endParaRPr lang="en-US" sz="1300" dirty="0"/>
          </a:p>
        </p:txBody>
      </p:sp>
      <p:sp>
        <p:nvSpPr>
          <p:cNvPr id="4" name="Text 2"/>
          <p:cNvSpPr/>
          <p:nvPr/>
        </p:nvSpPr>
        <p:spPr>
          <a:xfrm>
            <a:off x="548640" y="2971800"/>
            <a:ext cx="6583680" cy="1097280"/>
          </a:xfrm>
          <a:prstGeom prst="rect">
            <a:avLst/>
          </a:prstGeom>
          <a:noFill/>
          <a:ln/>
        </p:spPr>
        <p:txBody>
          <a:bodyPr wrap="square" lIns="0" tIns="0" rIns="0" bIns="0" rtlCol="0" anchor="ctr"/>
          <a:lstStyle/>
          <a:p>
            <a:pPr indent="0" marL="0">
              <a:lnSpc>
                <a:spcPct val="125000"/>
              </a:lnSpc>
              <a:buNone/>
            </a:pPr>
            <a:r>
              <a:rPr lang="en-US" sz="1300" dirty="0">
                <a:solidFill>
                  <a:srgbClr val="5A5F73"/>
                </a:solidFill>
                <a:latin typeface="Calibri" pitchFamily="34" charset="0"/>
                <a:ea typeface="Calibri" pitchFamily="34" charset="-122"/>
                <a:cs typeface="Calibri" pitchFamily="34" charset="-120"/>
              </a:rPr>
              <a:t>It centred on four task-based modules replicating real data-analyst work in credit risk and collections — combining exploratory data analysis, AI-assisted prediction, and business-facing data storytelling.</a:t>
            </a:r>
            <a:endParaRPr lang="en-US" sz="1300" dirty="0"/>
          </a:p>
        </p:txBody>
      </p:sp>
      <p:sp>
        <p:nvSpPr>
          <p:cNvPr id="5" name="Shape 3"/>
          <p:cNvSpPr/>
          <p:nvPr/>
        </p:nvSpPr>
        <p:spPr>
          <a:xfrm>
            <a:off x="7452360" y="1280160"/>
            <a:ext cx="4160520" cy="960120"/>
          </a:xfrm>
          <a:prstGeom prst="roundRect">
            <a:avLst>
              <a:gd name="adj" fmla="val 7619"/>
            </a:avLst>
          </a:prstGeom>
          <a:solidFill>
            <a:srgbClr val="F3F4F8"/>
          </a:solidFill>
          <a:ln/>
        </p:spPr>
      </p:sp>
      <p:sp>
        <p:nvSpPr>
          <p:cNvPr id="6" name="Shape 4"/>
          <p:cNvSpPr/>
          <p:nvPr/>
        </p:nvSpPr>
        <p:spPr>
          <a:xfrm>
            <a:off x="7635240" y="1481328"/>
            <a:ext cx="566928" cy="566928"/>
          </a:xfrm>
          <a:prstGeom prst="ellipse">
            <a:avLst/>
          </a:prstGeom>
          <a:solidFill>
            <a:srgbClr val="1B2151"/>
          </a:solidFill>
          <a:ln/>
        </p:spPr>
      </p:sp>
      <p:sp>
        <p:nvSpPr>
          <p:cNvPr id="7" name="Text 5"/>
          <p:cNvSpPr/>
          <p:nvPr/>
        </p:nvSpPr>
        <p:spPr>
          <a:xfrm>
            <a:off x="7635240" y="1481328"/>
            <a:ext cx="566928" cy="566928"/>
          </a:xfrm>
          <a:prstGeom prst="rect">
            <a:avLst/>
          </a:prstGeom>
          <a:noFill/>
          <a:ln/>
        </p:spPr>
        <p:txBody>
          <a:bodyPr wrap="square" lIns="0" tIns="0" rIns="0" bIns="0" rtlCol="0" anchor="ctr"/>
          <a:lstStyle/>
          <a:p>
            <a:pPr algn="ctr" indent="0" marL="0">
              <a:buNone/>
            </a:pPr>
            <a:endParaRPr lang="en-US" sz="1488" dirty="0"/>
          </a:p>
        </p:txBody>
      </p:sp>
      <p:sp>
        <p:nvSpPr>
          <p:cNvPr id="8" name="Text 6"/>
          <p:cNvSpPr/>
          <p:nvPr/>
        </p:nvSpPr>
        <p:spPr>
          <a:xfrm>
            <a:off x="8366760" y="1389888"/>
            <a:ext cx="3108960" cy="274320"/>
          </a:xfrm>
          <a:prstGeom prst="rect">
            <a:avLst/>
          </a:prstGeom>
          <a:noFill/>
          <a:ln/>
        </p:spPr>
        <p:txBody>
          <a:bodyPr wrap="square" lIns="0" tIns="0" rIns="0" bIns="0" rtlCol="0" anchor="ctr"/>
          <a:lstStyle/>
          <a:p>
            <a:pPr indent="0" marL="0">
              <a:buNone/>
            </a:pPr>
            <a:r>
              <a:rPr lang="en-US" sz="950" b="1" spc="100" kern="0" dirty="0">
                <a:solidFill>
                  <a:srgbClr val="C9A24B"/>
                </a:solidFill>
                <a:latin typeface="Calibri" pitchFamily="34" charset="0"/>
                <a:ea typeface="Calibri" pitchFamily="34" charset="-122"/>
                <a:cs typeface="Calibri" pitchFamily="34" charset="-120"/>
              </a:rPr>
              <a:t>PROVIDED BY</a:t>
            </a:r>
            <a:endParaRPr lang="en-US" sz="950" dirty="0"/>
          </a:p>
        </p:txBody>
      </p:sp>
      <p:sp>
        <p:nvSpPr>
          <p:cNvPr id="9" name="Text 7"/>
          <p:cNvSpPr/>
          <p:nvPr/>
        </p:nvSpPr>
        <p:spPr>
          <a:xfrm>
            <a:off x="8366760" y="1645920"/>
            <a:ext cx="3108960" cy="502920"/>
          </a:xfrm>
          <a:prstGeom prst="rect">
            <a:avLst/>
          </a:prstGeom>
          <a:noFill/>
          <a:ln/>
        </p:spPr>
        <p:txBody>
          <a:bodyPr wrap="square" lIns="0" tIns="0" rIns="0" bIns="0" rtlCol="0" anchor="ctr"/>
          <a:lstStyle/>
          <a:p>
            <a:pPr indent="0" marL="0">
              <a:buNone/>
            </a:pPr>
            <a:r>
              <a:rPr lang="en-US" sz="1350" dirty="0">
                <a:solidFill>
                  <a:srgbClr val="1B2151"/>
                </a:solidFill>
                <a:latin typeface="Georgia" pitchFamily="34" charset="0"/>
                <a:ea typeface="Georgia" pitchFamily="34" charset="-122"/>
                <a:cs typeface="Georgia" pitchFamily="34" charset="-120"/>
              </a:rPr>
              <a:t>Tata Group</a:t>
            </a:r>
            <a:endParaRPr lang="en-US" sz="1350" dirty="0"/>
          </a:p>
        </p:txBody>
      </p:sp>
      <p:sp>
        <p:nvSpPr>
          <p:cNvPr id="10" name="Shape 8"/>
          <p:cNvSpPr/>
          <p:nvPr/>
        </p:nvSpPr>
        <p:spPr>
          <a:xfrm>
            <a:off x="7452360" y="2450592"/>
            <a:ext cx="4160520" cy="960120"/>
          </a:xfrm>
          <a:prstGeom prst="roundRect">
            <a:avLst>
              <a:gd name="adj" fmla="val 7619"/>
            </a:avLst>
          </a:prstGeom>
          <a:solidFill>
            <a:srgbClr val="F3F4F8"/>
          </a:solidFill>
          <a:ln/>
        </p:spPr>
      </p:sp>
      <p:sp>
        <p:nvSpPr>
          <p:cNvPr id="11" name="Shape 9"/>
          <p:cNvSpPr/>
          <p:nvPr/>
        </p:nvSpPr>
        <p:spPr>
          <a:xfrm>
            <a:off x="7635240" y="2651760"/>
            <a:ext cx="566928" cy="566928"/>
          </a:xfrm>
          <a:prstGeom prst="ellipse">
            <a:avLst/>
          </a:prstGeom>
          <a:solidFill>
            <a:srgbClr val="1B2151"/>
          </a:solidFill>
          <a:ln/>
        </p:spPr>
      </p:sp>
      <p:sp>
        <p:nvSpPr>
          <p:cNvPr id="12" name="Text 10"/>
          <p:cNvSpPr/>
          <p:nvPr/>
        </p:nvSpPr>
        <p:spPr>
          <a:xfrm>
            <a:off x="7635240" y="2651760"/>
            <a:ext cx="566928" cy="566928"/>
          </a:xfrm>
          <a:prstGeom prst="rect">
            <a:avLst/>
          </a:prstGeom>
          <a:noFill/>
          <a:ln/>
        </p:spPr>
        <p:txBody>
          <a:bodyPr wrap="square" lIns="0" tIns="0" rIns="0" bIns="0" rtlCol="0" anchor="ctr"/>
          <a:lstStyle/>
          <a:p>
            <a:pPr algn="ctr" indent="0" marL="0">
              <a:buNone/>
            </a:pPr>
            <a:endParaRPr lang="en-US" sz="1488" dirty="0"/>
          </a:p>
        </p:txBody>
      </p:sp>
      <p:sp>
        <p:nvSpPr>
          <p:cNvPr id="13" name="Text 11"/>
          <p:cNvSpPr/>
          <p:nvPr/>
        </p:nvSpPr>
        <p:spPr>
          <a:xfrm>
            <a:off x="8366760" y="2560320"/>
            <a:ext cx="3108960" cy="274320"/>
          </a:xfrm>
          <a:prstGeom prst="rect">
            <a:avLst/>
          </a:prstGeom>
          <a:noFill/>
          <a:ln/>
        </p:spPr>
        <p:txBody>
          <a:bodyPr wrap="square" lIns="0" tIns="0" rIns="0" bIns="0" rtlCol="0" anchor="ctr"/>
          <a:lstStyle/>
          <a:p>
            <a:pPr indent="0" marL="0">
              <a:buNone/>
            </a:pPr>
            <a:r>
              <a:rPr lang="en-US" sz="950" b="1" spc="100" kern="0" dirty="0">
                <a:solidFill>
                  <a:srgbClr val="C9A24B"/>
                </a:solidFill>
                <a:latin typeface="Calibri" pitchFamily="34" charset="0"/>
                <a:ea typeface="Calibri" pitchFamily="34" charset="-122"/>
                <a:cs typeface="Calibri" pitchFamily="34" charset="-120"/>
              </a:rPr>
              <a:t>DELIVERED VIA</a:t>
            </a:r>
            <a:endParaRPr lang="en-US" sz="950" dirty="0"/>
          </a:p>
        </p:txBody>
      </p:sp>
      <p:sp>
        <p:nvSpPr>
          <p:cNvPr id="14" name="Text 12"/>
          <p:cNvSpPr/>
          <p:nvPr/>
        </p:nvSpPr>
        <p:spPr>
          <a:xfrm>
            <a:off x="8366760" y="2816352"/>
            <a:ext cx="3108960" cy="502920"/>
          </a:xfrm>
          <a:prstGeom prst="rect">
            <a:avLst/>
          </a:prstGeom>
          <a:noFill/>
          <a:ln/>
        </p:spPr>
        <p:txBody>
          <a:bodyPr wrap="square" lIns="0" tIns="0" rIns="0" bIns="0" rtlCol="0" anchor="ctr"/>
          <a:lstStyle/>
          <a:p>
            <a:pPr indent="0" marL="0">
              <a:buNone/>
            </a:pPr>
            <a:r>
              <a:rPr lang="en-US" sz="1350" dirty="0">
                <a:solidFill>
                  <a:srgbClr val="1B2151"/>
                </a:solidFill>
                <a:latin typeface="Georgia" pitchFamily="34" charset="0"/>
                <a:ea typeface="Georgia" pitchFamily="34" charset="-122"/>
                <a:cs typeface="Georgia" pitchFamily="34" charset="-120"/>
              </a:rPr>
              <a:t>Forage Platform</a:t>
            </a:r>
            <a:endParaRPr lang="en-US" sz="1350" dirty="0"/>
          </a:p>
        </p:txBody>
      </p:sp>
      <p:sp>
        <p:nvSpPr>
          <p:cNvPr id="15" name="Shape 13"/>
          <p:cNvSpPr/>
          <p:nvPr/>
        </p:nvSpPr>
        <p:spPr>
          <a:xfrm>
            <a:off x="7452360" y="3621024"/>
            <a:ext cx="4160520" cy="960120"/>
          </a:xfrm>
          <a:prstGeom prst="roundRect">
            <a:avLst>
              <a:gd name="adj" fmla="val 7619"/>
            </a:avLst>
          </a:prstGeom>
          <a:solidFill>
            <a:srgbClr val="F3F4F8"/>
          </a:solidFill>
          <a:ln/>
        </p:spPr>
      </p:sp>
      <p:sp>
        <p:nvSpPr>
          <p:cNvPr id="16" name="Shape 14"/>
          <p:cNvSpPr/>
          <p:nvPr/>
        </p:nvSpPr>
        <p:spPr>
          <a:xfrm>
            <a:off x="7635240" y="3822192"/>
            <a:ext cx="566928" cy="566928"/>
          </a:xfrm>
          <a:prstGeom prst="ellipse">
            <a:avLst/>
          </a:prstGeom>
          <a:solidFill>
            <a:srgbClr val="1B2151"/>
          </a:solidFill>
          <a:ln/>
        </p:spPr>
      </p:sp>
      <p:sp>
        <p:nvSpPr>
          <p:cNvPr id="17" name="Text 15"/>
          <p:cNvSpPr/>
          <p:nvPr/>
        </p:nvSpPr>
        <p:spPr>
          <a:xfrm>
            <a:off x="7635240" y="3822192"/>
            <a:ext cx="566928" cy="566928"/>
          </a:xfrm>
          <a:prstGeom prst="rect">
            <a:avLst/>
          </a:prstGeom>
          <a:noFill/>
          <a:ln/>
        </p:spPr>
        <p:txBody>
          <a:bodyPr wrap="square" lIns="0" tIns="0" rIns="0" bIns="0" rtlCol="0" anchor="ctr"/>
          <a:lstStyle/>
          <a:p>
            <a:pPr algn="ctr" indent="0" marL="0">
              <a:buNone/>
            </a:pPr>
            <a:endParaRPr lang="en-US" sz="1488" dirty="0"/>
          </a:p>
        </p:txBody>
      </p:sp>
      <p:sp>
        <p:nvSpPr>
          <p:cNvPr id="18" name="Text 16"/>
          <p:cNvSpPr/>
          <p:nvPr/>
        </p:nvSpPr>
        <p:spPr>
          <a:xfrm>
            <a:off x="8366760" y="3730752"/>
            <a:ext cx="3108960" cy="274320"/>
          </a:xfrm>
          <a:prstGeom prst="rect">
            <a:avLst/>
          </a:prstGeom>
          <a:noFill/>
          <a:ln/>
        </p:spPr>
        <p:txBody>
          <a:bodyPr wrap="square" lIns="0" tIns="0" rIns="0" bIns="0" rtlCol="0" anchor="ctr"/>
          <a:lstStyle/>
          <a:p>
            <a:pPr indent="0" marL="0">
              <a:buNone/>
            </a:pPr>
            <a:r>
              <a:rPr lang="en-US" sz="950" b="1" spc="100" kern="0" dirty="0">
                <a:solidFill>
                  <a:srgbClr val="C9A24B"/>
                </a:solidFill>
                <a:latin typeface="Calibri" pitchFamily="34" charset="0"/>
                <a:ea typeface="Calibri" pitchFamily="34" charset="-122"/>
                <a:cs typeface="Calibri" pitchFamily="34" charset="-120"/>
              </a:rPr>
              <a:t>COMPLETED</a:t>
            </a:r>
            <a:endParaRPr lang="en-US" sz="950" dirty="0"/>
          </a:p>
        </p:txBody>
      </p:sp>
      <p:sp>
        <p:nvSpPr>
          <p:cNvPr id="19" name="Text 17"/>
          <p:cNvSpPr/>
          <p:nvPr/>
        </p:nvSpPr>
        <p:spPr>
          <a:xfrm>
            <a:off x="8366760" y="3986784"/>
            <a:ext cx="3108960" cy="502920"/>
          </a:xfrm>
          <a:prstGeom prst="rect">
            <a:avLst/>
          </a:prstGeom>
          <a:noFill/>
          <a:ln/>
        </p:spPr>
        <p:txBody>
          <a:bodyPr wrap="square" lIns="0" tIns="0" rIns="0" bIns="0" rtlCol="0" anchor="ctr"/>
          <a:lstStyle/>
          <a:p>
            <a:pPr indent="0" marL="0">
              <a:buNone/>
            </a:pPr>
            <a:r>
              <a:rPr lang="en-US" sz="1350" dirty="0">
                <a:solidFill>
                  <a:srgbClr val="1B2151"/>
                </a:solidFill>
                <a:latin typeface="Georgia" pitchFamily="34" charset="0"/>
                <a:ea typeface="Georgia" pitchFamily="34" charset="-122"/>
                <a:cs typeface="Georgia" pitchFamily="34" charset="-120"/>
              </a:rPr>
              <a:t>August 25th, 2026</a:t>
            </a:r>
            <a:endParaRPr lang="en-US" sz="1350" dirty="0"/>
          </a:p>
        </p:txBody>
      </p:sp>
      <p:sp>
        <p:nvSpPr>
          <p:cNvPr id="20" name="Shape 18"/>
          <p:cNvSpPr/>
          <p:nvPr/>
        </p:nvSpPr>
        <p:spPr>
          <a:xfrm>
            <a:off x="7452360" y="4791456"/>
            <a:ext cx="4160520" cy="960120"/>
          </a:xfrm>
          <a:prstGeom prst="roundRect">
            <a:avLst>
              <a:gd name="adj" fmla="val 7619"/>
            </a:avLst>
          </a:prstGeom>
          <a:solidFill>
            <a:srgbClr val="F3F4F8"/>
          </a:solidFill>
          <a:ln/>
        </p:spPr>
      </p:sp>
      <p:sp>
        <p:nvSpPr>
          <p:cNvPr id="21" name="Shape 19"/>
          <p:cNvSpPr/>
          <p:nvPr/>
        </p:nvSpPr>
        <p:spPr>
          <a:xfrm>
            <a:off x="7635240" y="4992624"/>
            <a:ext cx="566928" cy="566928"/>
          </a:xfrm>
          <a:prstGeom prst="ellipse">
            <a:avLst/>
          </a:prstGeom>
          <a:solidFill>
            <a:srgbClr val="1B2151"/>
          </a:solidFill>
          <a:ln/>
        </p:spPr>
      </p:sp>
      <p:sp>
        <p:nvSpPr>
          <p:cNvPr id="22" name="Text 20"/>
          <p:cNvSpPr/>
          <p:nvPr/>
        </p:nvSpPr>
        <p:spPr>
          <a:xfrm>
            <a:off x="7635240" y="4992624"/>
            <a:ext cx="566928" cy="566928"/>
          </a:xfrm>
          <a:prstGeom prst="rect">
            <a:avLst/>
          </a:prstGeom>
          <a:noFill/>
          <a:ln/>
        </p:spPr>
        <p:txBody>
          <a:bodyPr wrap="square" lIns="0" tIns="0" rIns="0" bIns="0" rtlCol="0" anchor="ctr"/>
          <a:lstStyle/>
          <a:p>
            <a:pPr algn="ctr" indent="0" marL="0">
              <a:buNone/>
            </a:pPr>
            <a:endParaRPr lang="en-US" sz="1488" dirty="0"/>
          </a:p>
        </p:txBody>
      </p:sp>
      <p:sp>
        <p:nvSpPr>
          <p:cNvPr id="23" name="Text 21"/>
          <p:cNvSpPr/>
          <p:nvPr/>
        </p:nvSpPr>
        <p:spPr>
          <a:xfrm>
            <a:off x="8366760" y="4901184"/>
            <a:ext cx="3108960" cy="274320"/>
          </a:xfrm>
          <a:prstGeom prst="rect">
            <a:avLst/>
          </a:prstGeom>
          <a:noFill/>
          <a:ln/>
        </p:spPr>
        <p:txBody>
          <a:bodyPr wrap="square" lIns="0" tIns="0" rIns="0" bIns="0" rtlCol="0" anchor="ctr"/>
          <a:lstStyle/>
          <a:p>
            <a:pPr indent="0" marL="0">
              <a:buNone/>
            </a:pPr>
            <a:r>
              <a:rPr lang="en-US" sz="950" b="1" spc="100" kern="0" dirty="0">
                <a:solidFill>
                  <a:srgbClr val="C9A24B"/>
                </a:solidFill>
                <a:latin typeface="Calibri" pitchFamily="34" charset="0"/>
                <a:ea typeface="Calibri" pitchFamily="34" charset="-122"/>
                <a:cs typeface="Calibri" pitchFamily="34" charset="-120"/>
              </a:rPr>
              <a:t>FOCUS AREA</a:t>
            </a:r>
            <a:endParaRPr lang="en-US" sz="950" dirty="0"/>
          </a:p>
        </p:txBody>
      </p:sp>
      <p:sp>
        <p:nvSpPr>
          <p:cNvPr id="24" name="Text 22"/>
          <p:cNvSpPr/>
          <p:nvPr/>
        </p:nvSpPr>
        <p:spPr>
          <a:xfrm>
            <a:off x="8366760" y="5157216"/>
            <a:ext cx="3108960" cy="502920"/>
          </a:xfrm>
          <a:prstGeom prst="rect">
            <a:avLst/>
          </a:prstGeom>
          <a:noFill/>
          <a:ln/>
        </p:spPr>
        <p:txBody>
          <a:bodyPr wrap="square" lIns="0" tIns="0" rIns="0" bIns="0" rtlCol="0" anchor="ctr"/>
          <a:lstStyle/>
          <a:p>
            <a:pPr indent="0" marL="0">
              <a:buNone/>
            </a:pPr>
            <a:r>
              <a:rPr lang="en-US" sz="1350" dirty="0">
                <a:solidFill>
                  <a:srgbClr val="1B2151"/>
                </a:solidFill>
                <a:latin typeface="Georgia" pitchFamily="34" charset="0"/>
                <a:ea typeface="Georgia" pitchFamily="34" charset="-122"/>
                <a:cs typeface="Georgia" pitchFamily="34" charset="-120"/>
              </a:rPr>
              <a:t>Data Analytics &amp; GenAI</a:t>
            </a:r>
            <a:endParaRPr lang="en-US" sz="135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26" name="Text 24"/>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Organization / Platform Profile</a:t>
            </a:r>
            <a:endParaRPr lang="en-US" sz="3000" dirty="0"/>
          </a:p>
        </p:txBody>
      </p:sp>
      <p:sp>
        <p:nvSpPr>
          <p:cNvPr id="3" name="Shape 1"/>
          <p:cNvSpPr/>
          <p:nvPr/>
        </p:nvSpPr>
        <p:spPr>
          <a:xfrm>
            <a:off x="548640" y="1371600"/>
            <a:ext cx="5303520" cy="4206240"/>
          </a:xfrm>
          <a:prstGeom prst="roundRect">
            <a:avLst>
              <a:gd name="adj" fmla="val 1739"/>
            </a:avLst>
          </a:prstGeom>
          <a:solidFill>
            <a:srgbClr val="1B2151"/>
          </a:solidFill>
          <a:ln/>
        </p:spPr>
      </p:sp>
      <p:sp>
        <p:nvSpPr>
          <p:cNvPr id="4" name="Shape 2"/>
          <p:cNvSpPr/>
          <p:nvPr/>
        </p:nvSpPr>
        <p:spPr>
          <a:xfrm>
            <a:off x="868680" y="1691640"/>
            <a:ext cx="640080" cy="640080"/>
          </a:xfrm>
          <a:prstGeom prst="ellipse">
            <a:avLst/>
          </a:prstGeom>
          <a:solidFill>
            <a:srgbClr val="C9A24B"/>
          </a:solidFill>
          <a:ln/>
        </p:spPr>
      </p:sp>
      <p:sp>
        <p:nvSpPr>
          <p:cNvPr id="5" name="Text 3"/>
          <p:cNvSpPr/>
          <p:nvPr/>
        </p:nvSpPr>
        <p:spPr>
          <a:xfrm>
            <a:off x="868680" y="1691640"/>
            <a:ext cx="640080" cy="640080"/>
          </a:xfrm>
          <a:prstGeom prst="rect">
            <a:avLst/>
          </a:prstGeom>
          <a:noFill/>
          <a:ln/>
        </p:spPr>
        <p:txBody>
          <a:bodyPr wrap="square" lIns="0" tIns="0" rIns="0" bIns="0" rtlCol="0" anchor="ctr"/>
          <a:lstStyle/>
          <a:p>
            <a:pPr algn="ctr" indent="0" marL="0">
              <a:buNone/>
            </a:pPr>
            <a:endParaRPr lang="en-US" sz="1680" dirty="0"/>
          </a:p>
        </p:txBody>
      </p:sp>
      <p:sp>
        <p:nvSpPr>
          <p:cNvPr id="6" name="Text 4"/>
          <p:cNvSpPr/>
          <p:nvPr/>
        </p:nvSpPr>
        <p:spPr>
          <a:xfrm>
            <a:off x="1691640" y="1737360"/>
            <a:ext cx="3931920" cy="548640"/>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Tata Group</a:t>
            </a:r>
            <a:endParaRPr lang="en-US" sz="1800" dirty="0"/>
          </a:p>
        </p:txBody>
      </p:sp>
      <p:sp>
        <p:nvSpPr>
          <p:cNvPr id="7" name="Text 5"/>
          <p:cNvSpPr/>
          <p:nvPr/>
        </p:nvSpPr>
        <p:spPr>
          <a:xfrm>
            <a:off x="868680" y="2514600"/>
            <a:ext cx="4617720" cy="2743200"/>
          </a:xfrm>
          <a:prstGeom prst="rect">
            <a:avLst/>
          </a:prstGeom>
          <a:noFill/>
          <a:ln/>
        </p:spPr>
        <p:txBody>
          <a:bodyPr wrap="square" lIns="0" tIns="0" rIns="0" bIns="0" rtlCol="0" anchor="ctr"/>
          <a:lstStyle/>
          <a:p>
            <a:pPr indent="0" marL="0">
              <a:lnSpc>
                <a:spcPct val="130000"/>
              </a:lnSpc>
              <a:buNone/>
            </a:pPr>
            <a:r>
              <a:rPr lang="en-US" sz="1250" dirty="0">
                <a:solidFill>
                  <a:srgbClr val="D6D9EC"/>
                </a:solidFill>
                <a:latin typeface="Calibri" pitchFamily="34" charset="0"/>
                <a:ea typeface="Calibri" pitchFamily="34" charset="-122"/>
                <a:cs typeface="Calibri" pitchFamily="34" charset="-120"/>
              </a:rPr>
              <a:t>A global Indian multinational conglomerate with business interests spanning financial services, technology, and consulting. As part of its outreach to early-career talent, Tata Group partnered with Forage to offer this simulation.</a:t>
            </a:r>
            <a:endParaRPr lang="en-US" sz="1250" dirty="0"/>
          </a:p>
        </p:txBody>
      </p:sp>
      <p:sp>
        <p:nvSpPr>
          <p:cNvPr id="8" name="Shape 6"/>
          <p:cNvSpPr/>
          <p:nvPr/>
        </p:nvSpPr>
        <p:spPr>
          <a:xfrm>
            <a:off x="6172200" y="1371600"/>
            <a:ext cx="5440680" cy="4206240"/>
          </a:xfrm>
          <a:prstGeom prst="roundRect">
            <a:avLst>
              <a:gd name="adj" fmla="val 1739"/>
            </a:avLst>
          </a:prstGeom>
          <a:solidFill>
            <a:srgbClr val="F3F4F8"/>
          </a:solidFill>
          <a:ln/>
        </p:spPr>
      </p:sp>
      <p:sp>
        <p:nvSpPr>
          <p:cNvPr id="9" name="Shape 7"/>
          <p:cNvSpPr/>
          <p:nvPr/>
        </p:nvSpPr>
        <p:spPr>
          <a:xfrm>
            <a:off x="6492240" y="1691640"/>
            <a:ext cx="640080" cy="640080"/>
          </a:xfrm>
          <a:prstGeom prst="ellipse">
            <a:avLst/>
          </a:prstGeom>
          <a:solidFill>
            <a:srgbClr val="1B2151"/>
          </a:solidFill>
          <a:ln/>
        </p:spPr>
      </p:sp>
      <p:sp>
        <p:nvSpPr>
          <p:cNvPr id="10" name="Text 8"/>
          <p:cNvSpPr/>
          <p:nvPr/>
        </p:nvSpPr>
        <p:spPr>
          <a:xfrm>
            <a:off x="6492240" y="1691640"/>
            <a:ext cx="640080" cy="640080"/>
          </a:xfrm>
          <a:prstGeom prst="rect">
            <a:avLst/>
          </a:prstGeom>
          <a:noFill/>
          <a:ln/>
        </p:spPr>
        <p:txBody>
          <a:bodyPr wrap="square" lIns="0" tIns="0" rIns="0" bIns="0" rtlCol="0" anchor="ctr"/>
          <a:lstStyle/>
          <a:p>
            <a:pPr algn="ctr" indent="0" marL="0">
              <a:buNone/>
            </a:pPr>
            <a:endParaRPr lang="en-US" sz="1680" dirty="0"/>
          </a:p>
        </p:txBody>
      </p:sp>
      <p:sp>
        <p:nvSpPr>
          <p:cNvPr id="11" name="Text 9"/>
          <p:cNvSpPr/>
          <p:nvPr/>
        </p:nvSpPr>
        <p:spPr>
          <a:xfrm>
            <a:off x="7315200" y="1737360"/>
            <a:ext cx="4114800" cy="548640"/>
          </a:xfrm>
          <a:prstGeom prst="rect">
            <a:avLst/>
          </a:prstGeom>
          <a:noFill/>
          <a:ln/>
        </p:spPr>
        <p:txBody>
          <a:bodyPr wrap="square" lIns="0" tIns="0" rIns="0" bIns="0" rtlCol="0" anchor="ctr"/>
          <a:lstStyle/>
          <a:p>
            <a:pPr indent="0" marL="0">
              <a:buNone/>
            </a:pPr>
            <a:r>
              <a:rPr lang="en-US" sz="1800" dirty="0">
                <a:solidFill>
                  <a:srgbClr val="1B2151"/>
                </a:solidFill>
                <a:latin typeface="Georgia" pitchFamily="34" charset="0"/>
                <a:ea typeface="Georgia" pitchFamily="34" charset="-122"/>
                <a:cs typeface="Georgia" pitchFamily="34" charset="-120"/>
              </a:rPr>
              <a:t>Forage</a:t>
            </a:r>
            <a:endParaRPr lang="en-US" sz="1800" dirty="0"/>
          </a:p>
        </p:txBody>
      </p:sp>
      <p:sp>
        <p:nvSpPr>
          <p:cNvPr id="12" name="Text 10"/>
          <p:cNvSpPr/>
          <p:nvPr/>
        </p:nvSpPr>
        <p:spPr>
          <a:xfrm>
            <a:off x="6492240" y="2514600"/>
            <a:ext cx="4846320" cy="2743200"/>
          </a:xfrm>
          <a:prstGeom prst="rect">
            <a:avLst/>
          </a:prstGeom>
          <a:noFill/>
          <a:ln/>
        </p:spPr>
        <p:txBody>
          <a:bodyPr wrap="square" lIns="0" tIns="0" rIns="0" bIns="0" rtlCol="0" anchor="ctr"/>
          <a:lstStyle/>
          <a:p>
            <a:pPr indent="0" marL="0">
              <a:lnSpc>
                <a:spcPct val="130000"/>
              </a:lnSpc>
              <a:buNone/>
            </a:pPr>
            <a:r>
              <a:rPr lang="en-US" sz="1250" dirty="0">
                <a:solidFill>
                  <a:srgbClr val="5A5F73"/>
                </a:solidFill>
                <a:latin typeface="Calibri" pitchFamily="34" charset="0"/>
                <a:ea typeface="Calibri" pitchFamily="34" charset="-122"/>
                <a:cs typeface="Calibri" pitchFamily="34" charset="-120"/>
              </a:rPr>
              <a:t>A platform hosting free, self-paced virtual job simulations designed by real companies — giving students structured, practical exposure to industry-relevant tasks and realistic business scenarios, without a formal internship placement.</a:t>
            </a:r>
            <a:endParaRPr lang="en-US" sz="1250" dirty="0"/>
          </a:p>
        </p:txBody>
      </p:sp>
      <p:sp>
        <p:nvSpPr>
          <p:cNvPr id="13" name="Text 1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14" name="Text 12"/>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Problem Statement</a:t>
            </a:r>
            <a:endParaRPr lang="en-US" sz="3000" dirty="0"/>
          </a:p>
        </p:txBody>
      </p:sp>
      <p:sp>
        <p:nvSpPr>
          <p:cNvPr id="3" name="Shape 1"/>
          <p:cNvSpPr/>
          <p:nvPr/>
        </p:nvSpPr>
        <p:spPr>
          <a:xfrm>
            <a:off x="548640" y="1417320"/>
            <a:ext cx="10881360" cy="713232"/>
          </a:xfrm>
          <a:prstGeom prst="roundRect">
            <a:avLst>
              <a:gd name="adj" fmla="val 7692"/>
            </a:avLst>
          </a:prstGeom>
          <a:solidFill>
            <a:srgbClr val="F3F4F8"/>
          </a:solidFill>
          <a:ln/>
        </p:spPr>
      </p:sp>
      <p:sp>
        <p:nvSpPr>
          <p:cNvPr id="4" name="Shape 2"/>
          <p:cNvSpPr/>
          <p:nvPr/>
        </p:nvSpPr>
        <p:spPr>
          <a:xfrm>
            <a:off x="749808" y="1545336"/>
            <a:ext cx="457200" cy="457200"/>
          </a:xfrm>
          <a:prstGeom prst="ellipse">
            <a:avLst/>
          </a:prstGeom>
          <a:solidFill>
            <a:srgbClr val="1B2151"/>
          </a:solidFill>
          <a:ln/>
        </p:spPr>
      </p:sp>
      <p:sp>
        <p:nvSpPr>
          <p:cNvPr id="5" name="Text 3"/>
          <p:cNvSpPr/>
          <p:nvPr/>
        </p:nvSpPr>
        <p:spPr>
          <a:xfrm>
            <a:off x="749808" y="1545336"/>
            <a:ext cx="457200" cy="457200"/>
          </a:xfrm>
          <a:prstGeom prst="rect">
            <a:avLst/>
          </a:prstGeom>
          <a:noFill/>
          <a:ln/>
        </p:spPr>
        <p:txBody>
          <a:bodyPr wrap="square" lIns="0" tIns="0" rIns="0" bIns="0" rtlCol="0" anchor="ctr"/>
          <a:lstStyle/>
          <a:p>
            <a:pPr algn="ctr" indent="0" marL="0">
              <a:buNone/>
            </a:pPr>
            <a:endParaRPr lang="en-US" sz="1200" dirty="0"/>
          </a:p>
        </p:txBody>
      </p:sp>
      <p:sp>
        <p:nvSpPr>
          <p:cNvPr id="6" name="Text 4"/>
          <p:cNvSpPr/>
          <p:nvPr/>
        </p:nvSpPr>
        <p:spPr>
          <a:xfrm>
            <a:off x="1417320" y="1417320"/>
            <a:ext cx="9784080" cy="713232"/>
          </a:xfrm>
          <a:prstGeom prst="rect">
            <a:avLst/>
          </a:prstGeom>
          <a:noFill/>
          <a:ln/>
        </p:spPr>
        <p:txBody>
          <a:bodyPr wrap="square" lIns="0" tIns="0" rIns="0" bIns="0" rtlCol="0" anchor="ctr"/>
          <a:lstStyle/>
          <a:p>
            <a:pPr indent="0" marL="0">
              <a:buNone/>
            </a:pPr>
            <a:r>
              <a:rPr lang="en-US" sz="1300" dirty="0">
                <a:solidFill>
                  <a:srgbClr val="1B2151"/>
                </a:solidFill>
                <a:latin typeface="Calibri" pitchFamily="34" charset="0"/>
                <a:ea typeface="Calibri" pitchFamily="34" charset="-122"/>
                <a:cs typeface="Calibri" pitchFamily="34" charset="-120"/>
              </a:rPr>
              <a:t>Identifying borrowers at risk of delinquency</a:t>
            </a:r>
            <a:endParaRPr lang="en-US" sz="1300" dirty="0"/>
          </a:p>
        </p:txBody>
      </p:sp>
      <p:sp>
        <p:nvSpPr>
          <p:cNvPr id="7" name="Shape 5"/>
          <p:cNvSpPr/>
          <p:nvPr/>
        </p:nvSpPr>
        <p:spPr>
          <a:xfrm>
            <a:off x="548640" y="2286000"/>
            <a:ext cx="10881360" cy="713232"/>
          </a:xfrm>
          <a:prstGeom prst="roundRect">
            <a:avLst>
              <a:gd name="adj" fmla="val 7692"/>
            </a:avLst>
          </a:prstGeom>
          <a:solidFill>
            <a:srgbClr val="F3F4F8"/>
          </a:solidFill>
          <a:ln/>
        </p:spPr>
      </p:sp>
      <p:sp>
        <p:nvSpPr>
          <p:cNvPr id="8" name="Shape 6"/>
          <p:cNvSpPr/>
          <p:nvPr/>
        </p:nvSpPr>
        <p:spPr>
          <a:xfrm>
            <a:off x="749808" y="2414016"/>
            <a:ext cx="457200" cy="457200"/>
          </a:xfrm>
          <a:prstGeom prst="ellipse">
            <a:avLst/>
          </a:prstGeom>
          <a:solidFill>
            <a:srgbClr val="1B2151"/>
          </a:solidFill>
          <a:ln/>
        </p:spPr>
      </p:sp>
      <p:sp>
        <p:nvSpPr>
          <p:cNvPr id="9" name="Text 7"/>
          <p:cNvSpPr/>
          <p:nvPr/>
        </p:nvSpPr>
        <p:spPr>
          <a:xfrm>
            <a:off x="749808" y="2414016"/>
            <a:ext cx="457200" cy="457200"/>
          </a:xfrm>
          <a:prstGeom prst="rect">
            <a:avLst/>
          </a:prstGeom>
          <a:noFill/>
          <a:ln/>
        </p:spPr>
        <p:txBody>
          <a:bodyPr wrap="square" lIns="0" tIns="0" rIns="0" bIns="0" rtlCol="0" anchor="ctr"/>
          <a:lstStyle/>
          <a:p>
            <a:pPr algn="ctr" indent="0" marL="0">
              <a:buNone/>
            </a:pPr>
            <a:endParaRPr lang="en-US" sz="1200" dirty="0"/>
          </a:p>
        </p:txBody>
      </p:sp>
      <p:sp>
        <p:nvSpPr>
          <p:cNvPr id="10" name="Text 8"/>
          <p:cNvSpPr/>
          <p:nvPr/>
        </p:nvSpPr>
        <p:spPr>
          <a:xfrm>
            <a:off x="1417320" y="2286000"/>
            <a:ext cx="9784080" cy="713232"/>
          </a:xfrm>
          <a:prstGeom prst="rect">
            <a:avLst/>
          </a:prstGeom>
          <a:noFill/>
          <a:ln/>
        </p:spPr>
        <p:txBody>
          <a:bodyPr wrap="square" lIns="0" tIns="0" rIns="0" bIns="0" rtlCol="0" anchor="ctr"/>
          <a:lstStyle/>
          <a:p>
            <a:pPr indent="0" marL="0">
              <a:buNone/>
            </a:pPr>
            <a:r>
              <a:rPr lang="en-US" sz="1300" dirty="0">
                <a:solidFill>
                  <a:srgbClr val="1B2151"/>
                </a:solidFill>
                <a:latin typeface="Calibri" pitchFamily="34" charset="0"/>
                <a:ea typeface="Calibri" pitchFamily="34" charset="-122"/>
                <a:cs typeface="Calibri" pitchFamily="34" charset="-120"/>
              </a:rPr>
              <a:t>Manually profiling large customer bases is time-consuming</a:t>
            </a:r>
            <a:endParaRPr lang="en-US" sz="1300" dirty="0"/>
          </a:p>
        </p:txBody>
      </p:sp>
      <p:sp>
        <p:nvSpPr>
          <p:cNvPr id="11" name="Shape 9"/>
          <p:cNvSpPr/>
          <p:nvPr/>
        </p:nvSpPr>
        <p:spPr>
          <a:xfrm>
            <a:off x="548640" y="3154680"/>
            <a:ext cx="10881360" cy="713232"/>
          </a:xfrm>
          <a:prstGeom prst="roundRect">
            <a:avLst>
              <a:gd name="adj" fmla="val 7692"/>
            </a:avLst>
          </a:prstGeom>
          <a:solidFill>
            <a:srgbClr val="F3F4F8"/>
          </a:solidFill>
          <a:ln/>
        </p:spPr>
      </p:sp>
      <p:sp>
        <p:nvSpPr>
          <p:cNvPr id="12" name="Shape 10"/>
          <p:cNvSpPr/>
          <p:nvPr/>
        </p:nvSpPr>
        <p:spPr>
          <a:xfrm>
            <a:off x="749808" y="3282696"/>
            <a:ext cx="457200" cy="457200"/>
          </a:xfrm>
          <a:prstGeom prst="ellipse">
            <a:avLst/>
          </a:prstGeom>
          <a:solidFill>
            <a:srgbClr val="1B2151"/>
          </a:solidFill>
          <a:ln/>
        </p:spPr>
      </p:sp>
      <p:sp>
        <p:nvSpPr>
          <p:cNvPr id="13" name="Text 11"/>
          <p:cNvSpPr/>
          <p:nvPr/>
        </p:nvSpPr>
        <p:spPr>
          <a:xfrm>
            <a:off x="749808" y="3282696"/>
            <a:ext cx="457200" cy="457200"/>
          </a:xfrm>
          <a:prstGeom prst="rect">
            <a:avLst/>
          </a:prstGeom>
          <a:noFill/>
          <a:ln/>
        </p:spPr>
        <p:txBody>
          <a:bodyPr wrap="square" lIns="0" tIns="0" rIns="0" bIns="0" rtlCol="0" anchor="ctr"/>
          <a:lstStyle/>
          <a:p>
            <a:pPr algn="ctr" indent="0" marL="0">
              <a:buNone/>
            </a:pPr>
            <a:endParaRPr lang="en-US" sz="1200" dirty="0"/>
          </a:p>
        </p:txBody>
      </p:sp>
      <p:sp>
        <p:nvSpPr>
          <p:cNvPr id="14" name="Text 12"/>
          <p:cNvSpPr/>
          <p:nvPr/>
        </p:nvSpPr>
        <p:spPr>
          <a:xfrm>
            <a:off x="1417320" y="3154680"/>
            <a:ext cx="9784080" cy="713232"/>
          </a:xfrm>
          <a:prstGeom prst="rect">
            <a:avLst/>
          </a:prstGeom>
          <a:noFill/>
          <a:ln/>
        </p:spPr>
        <p:txBody>
          <a:bodyPr wrap="square" lIns="0" tIns="0" rIns="0" bIns="0" rtlCol="0" anchor="ctr"/>
          <a:lstStyle/>
          <a:p>
            <a:pPr indent="0" marL="0">
              <a:buNone/>
            </a:pPr>
            <a:r>
              <a:rPr lang="en-US" sz="1300" dirty="0">
                <a:solidFill>
                  <a:srgbClr val="1B2151"/>
                </a:solidFill>
                <a:latin typeface="Calibri" pitchFamily="34" charset="0"/>
                <a:ea typeface="Calibri" pitchFamily="34" charset="-122"/>
                <a:cs typeface="Calibri" pitchFamily="34" charset="-120"/>
              </a:rPr>
              <a:t>Analysis must convert into actionable recommendations</a:t>
            </a:r>
            <a:endParaRPr lang="en-US" sz="1300" dirty="0"/>
          </a:p>
        </p:txBody>
      </p:sp>
      <p:sp>
        <p:nvSpPr>
          <p:cNvPr id="15" name="Shape 13"/>
          <p:cNvSpPr/>
          <p:nvPr/>
        </p:nvSpPr>
        <p:spPr>
          <a:xfrm>
            <a:off x="548640" y="4023360"/>
            <a:ext cx="10881360" cy="713232"/>
          </a:xfrm>
          <a:prstGeom prst="roundRect">
            <a:avLst>
              <a:gd name="adj" fmla="val 7692"/>
            </a:avLst>
          </a:prstGeom>
          <a:solidFill>
            <a:srgbClr val="F3F4F8"/>
          </a:solidFill>
          <a:ln/>
        </p:spPr>
      </p:sp>
      <p:sp>
        <p:nvSpPr>
          <p:cNvPr id="16" name="Shape 14"/>
          <p:cNvSpPr/>
          <p:nvPr/>
        </p:nvSpPr>
        <p:spPr>
          <a:xfrm>
            <a:off x="749808" y="4151376"/>
            <a:ext cx="457200" cy="457200"/>
          </a:xfrm>
          <a:prstGeom prst="ellipse">
            <a:avLst/>
          </a:prstGeom>
          <a:solidFill>
            <a:srgbClr val="1B2151"/>
          </a:solidFill>
          <a:ln/>
        </p:spPr>
      </p:sp>
      <p:sp>
        <p:nvSpPr>
          <p:cNvPr id="17" name="Text 15"/>
          <p:cNvSpPr/>
          <p:nvPr/>
        </p:nvSpPr>
        <p:spPr>
          <a:xfrm>
            <a:off x="749808" y="4151376"/>
            <a:ext cx="457200" cy="457200"/>
          </a:xfrm>
          <a:prstGeom prst="rect">
            <a:avLst/>
          </a:prstGeom>
          <a:noFill/>
          <a:ln/>
        </p:spPr>
        <p:txBody>
          <a:bodyPr wrap="square" lIns="0" tIns="0" rIns="0" bIns="0" rtlCol="0" anchor="ctr"/>
          <a:lstStyle/>
          <a:p>
            <a:pPr algn="ctr" indent="0" marL="0">
              <a:buNone/>
            </a:pPr>
            <a:endParaRPr lang="en-US" sz="1200" dirty="0"/>
          </a:p>
        </p:txBody>
      </p:sp>
      <p:sp>
        <p:nvSpPr>
          <p:cNvPr id="18" name="Text 16"/>
          <p:cNvSpPr/>
          <p:nvPr/>
        </p:nvSpPr>
        <p:spPr>
          <a:xfrm>
            <a:off x="1417320" y="4023360"/>
            <a:ext cx="9784080" cy="713232"/>
          </a:xfrm>
          <a:prstGeom prst="rect">
            <a:avLst/>
          </a:prstGeom>
          <a:noFill/>
          <a:ln/>
        </p:spPr>
        <p:txBody>
          <a:bodyPr wrap="square" lIns="0" tIns="0" rIns="0" bIns="0" rtlCol="0" anchor="ctr"/>
          <a:lstStyle/>
          <a:p>
            <a:pPr indent="0" marL="0">
              <a:buNone/>
            </a:pPr>
            <a:r>
              <a:rPr lang="en-US" sz="1300" dirty="0">
                <a:solidFill>
                  <a:srgbClr val="1B2151"/>
                </a:solidFill>
                <a:latin typeface="Calibri" pitchFamily="34" charset="0"/>
                <a:ea typeface="Calibri" pitchFamily="34" charset="-122"/>
                <a:cs typeface="Calibri" pitchFamily="34" charset="-120"/>
              </a:rPr>
              <a:t>Generative AI can accelerate analysis and reporting</a:t>
            </a:r>
            <a:endParaRPr lang="en-US" sz="1300" dirty="0"/>
          </a:p>
        </p:txBody>
      </p:sp>
      <p:sp>
        <p:nvSpPr>
          <p:cNvPr id="19" name="Shape 17"/>
          <p:cNvSpPr/>
          <p:nvPr/>
        </p:nvSpPr>
        <p:spPr>
          <a:xfrm>
            <a:off x="548640" y="4892040"/>
            <a:ext cx="10881360" cy="713232"/>
          </a:xfrm>
          <a:prstGeom prst="roundRect">
            <a:avLst>
              <a:gd name="adj" fmla="val 7692"/>
            </a:avLst>
          </a:prstGeom>
          <a:solidFill>
            <a:srgbClr val="F3F4F8"/>
          </a:solidFill>
          <a:ln/>
        </p:spPr>
      </p:sp>
      <p:sp>
        <p:nvSpPr>
          <p:cNvPr id="20" name="Shape 18"/>
          <p:cNvSpPr/>
          <p:nvPr/>
        </p:nvSpPr>
        <p:spPr>
          <a:xfrm>
            <a:off x="749808" y="5020056"/>
            <a:ext cx="457200" cy="457200"/>
          </a:xfrm>
          <a:prstGeom prst="ellipse">
            <a:avLst/>
          </a:prstGeom>
          <a:solidFill>
            <a:srgbClr val="1B2151"/>
          </a:solidFill>
          <a:ln/>
        </p:spPr>
      </p:sp>
      <p:sp>
        <p:nvSpPr>
          <p:cNvPr id="21" name="Text 19"/>
          <p:cNvSpPr/>
          <p:nvPr/>
        </p:nvSpPr>
        <p:spPr>
          <a:xfrm>
            <a:off x="749808" y="5020056"/>
            <a:ext cx="457200" cy="457200"/>
          </a:xfrm>
          <a:prstGeom prst="rect">
            <a:avLst/>
          </a:prstGeom>
          <a:noFill/>
          <a:ln/>
        </p:spPr>
        <p:txBody>
          <a:bodyPr wrap="square" lIns="0" tIns="0" rIns="0" bIns="0" rtlCol="0" anchor="ctr"/>
          <a:lstStyle/>
          <a:p>
            <a:pPr algn="ctr" indent="0" marL="0">
              <a:buNone/>
            </a:pPr>
            <a:endParaRPr lang="en-US" sz="1200" dirty="0"/>
          </a:p>
        </p:txBody>
      </p:sp>
      <p:sp>
        <p:nvSpPr>
          <p:cNvPr id="22" name="Text 20"/>
          <p:cNvSpPr/>
          <p:nvPr/>
        </p:nvSpPr>
        <p:spPr>
          <a:xfrm>
            <a:off x="1417320" y="4892040"/>
            <a:ext cx="9784080" cy="713232"/>
          </a:xfrm>
          <a:prstGeom prst="rect">
            <a:avLst/>
          </a:prstGeom>
          <a:noFill/>
          <a:ln/>
        </p:spPr>
        <p:txBody>
          <a:bodyPr wrap="square" lIns="0" tIns="0" rIns="0" bIns="0" rtlCol="0" anchor="ctr"/>
          <a:lstStyle/>
          <a:p>
            <a:pPr indent="0" marL="0">
              <a:buNone/>
            </a:pPr>
            <a:r>
              <a:rPr lang="en-US" sz="1300" dirty="0">
                <a:solidFill>
                  <a:srgbClr val="1B2151"/>
                </a:solidFill>
                <a:latin typeface="Calibri" pitchFamily="34" charset="0"/>
                <a:ea typeface="Calibri" pitchFamily="34" charset="-122"/>
                <a:cs typeface="Calibri" pitchFamily="34" charset="-120"/>
              </a:rPr>
              <a:t>AI-assisted outputs must be validated and used responsibly</a:t>
            </a:r>
            <a:endParaRPr lang="en-US" sz="13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24" name="Text 22"/>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Project Objectives</a:t>
            </a:r>
            <a:endParaRPr lang="en-US" sz="3000" dirty="0"/>
          </a:p>
        </p:txBody>
      </p:sp>
      <p:sp>
        <p:nvSpPr>
          <p:cNvPr id="3" name="Shape 1"/>
          <p:cNvSpPr/>
          <p:nvPr/>
        </p:nvSpPr>
        <p:spPr>
          <a:xfrm>
            <a:off x="548640" y="1417320"/>
            <a:ext cx="3520440" cy="1600200"/>
          </a:xfrm>
          <a:prstGeom prst="roundRect">
            <a:avLst>
              <a:gd name="adj" fmla="val 4571"/>
            </a:avLst>
          </a:prstGeom>
          <a:solidFill>
            <a:srgbClr val="F3F4F8"/>
          </a:solidFill>
          <a:ln/>
        </p:spPr>
      </p:sp>
      <p:sp>
        <p:nvSpPr>
          <p:cNvPr id="4" name="Shape 2"/>
          <p:cNvSpPr/>
          <p:nvPr/>
        </p:nvSpPr>
        <p:spPr>
          <a:xfrm>
            <a:off x="777240" y="1645920"/>
            <a:ext cx="502920" cy="502920"/>
          </a:xfrm>
          <a:prstGeom prst="ellipse">
            <a:avLst/>
          </a:prstGeom>
          <a:solidFill>
            <a:srgbClr val="1B2151"/>
          </a:solidFill>
          <a:ln/>
        </p:spPr>
      </p:sp>
      <p:sp>
        <p:nvSpPr>
          <p:cNvPr id="5" name="Text 3"/>
          <p:cNvSpPr/>
          <p:nvPr/>
        </p:nvSpPr>
        <p:spPr>
          <a:xfrm>
            <a:off x="77724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6" name="Text 4"/>
          <p:cNvSpPr/>
          <p:nvPr/>
        </p:nvSpPr>
        <p:spPr>
          <a:xfrm>
            <a:off x="77724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Risk Profiling</a:t>
            </a:r>
            <a:endParaRPr lang="en-US" sz="1400" dirty="0"/>
          </a:p>
        </p:txBody>
      </p:sp>
      <p:sp>
        <p:nvSpPr>
          <p:cNvPr id="7" name="Text 5"/>
          <p:cNvSpPr/>
          <p:nvPr/>
        </p:nvSpPr>
        <p:spPr>
          <a:xfrm>
            <a:off x="777240" y="2587752"/>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5A5F73"/>
                </a:solidFill>
                <a:latin typeface="Calibri" pitchFamily="34" charset="0"/>
                <a:ea typeface="Calibri" pitchFamily="34" charset="-122"/>
                <a:cs typeface="Calibri" pitchFamily="34" charset="-120"/>
              </a:rPr>
              <a:t>Exploratory data analysis and borrower risk profiling</a:t>
            </a:r>
            <a:endParaRPr lang="en-US" sz="1050" dirty="0"/>
          </a:p>
        </p:txBody>
      </p:sp>
      <p:sp>
        <p:nvSpPr>
          <p:cNvPr id="8" name="Shape 6"/>
          <p:cNvSpPr/>
          <p:nvPr/>
        </p:nvSpPr>
        <p:spPr>
          <a:xfrm>
            <a:off x="4297680" y="1417320"/>
            <a:ext cx="3520440" cy="1600200"/>
          </a:xfrm>
          <a:prstGeom prst="roundRect">
            <a:avLst>
              <a:gd name="adj" fmla="val 4571"/>
            </a:avLst>
          </a:prstGeom>
          <a:solidFill>
            <a:srgbClr val="F3F4F8"/>
          </a:solidFill>
          <a:ln/>
        </p:spPr>
      </p:sp>
      <p:sp>
        <p:nvSpPr>
          <p:cNvPr id="9" name="Shape 7"/>
          <p:cNvSpPr/>
          <p:nvPr/>
        </p:nvSpPr>
        <p:spPr>
          <a:xfrm>
            <a:off x="4526280" y="1645920"/>
            <a:ext cx="502920" cy="502920"/>
          </a:xfrm>
          <a:prstGeom prst="ellipse">
            <a:avLst/>
          </a:prstGeom>
          <a:solidFill>
            <a:srgbClr val="1B2151"/>
          </a:solidFill>
          <a:ln/>
        </p:spPr>
      </p:sp>
      <p:sp>
        <p:nvSpPr>
          <p:cNvPr id="10" name="Text 8"/>
          <p:cNvSpPr/>
          <p:nvPr/>
        </p:nvSpPr>
        <p:spPr>
          <a:xfrm>
            <a:off x="452628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11" name="Text 9"/>
          <p:cNvSpPr/>
          <p:nvPr/>
        </p:nvSpPr>
        <p:spPr>
          <a:xfrm>
            <a:off x="452628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AI Prediction</a:t>
            </a:r>
            <a:endParaRPr lang="en-US" sz="1400" dirty="0"/>
          </a:p>
        </p:txBody>
      </p:sp>
      <p:sp>
        <p:nvSpPr>
          <p:cNvPr id="12" name="Text 10"/>
          <p:cNvSpPr/>
          <p:nvPr/>
        </p:nvSpPr>
        <p:spPr>
          <a:xfrm>
            <a:off x="4526280" y="2587752"/>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5A5F73"/>
                </a:solidFill>
                <a:latin typeface="Calibri" pitchFamily="34" charset="0"/>
                <a:ea typeface="Calibri" pitchFamily="34" charset="-122"/>
                <a:cs typeface="Calibri" pitchFamily="34" charset="-120"/>
              </a:rPr>
              <a:t>AI-assisted delinquency prediction</a:t>
            </a:r>
            <a:endParaRPr lang="en-US" sz="1050" dirty="0"/>
          </a:p>
        </p:txBody>
      </p:sp>
      <p:sp>
        <p:nvSpPr>
          <p:cNvPr id="13" name="Shape 11"/>
          <p:cNvSpPr/>
          <p:nvPr/>
        </p:nvSpPr>
        <p:spPr>
          <a:xfrm>
            <a:off x="8046720" y="1417320"/>
            <a:ext cx="3520440" cy="1600200"/>
          </a:xfrm>
          <a:prstGeom prst="roundRect">
            <a:avLst>
              <a:gd name="adj" fmla="val 4571"/>
            </a:avLst>
          </a:prstGeom>
          <a:solidFill>
            <a:srgbClr val="F3F4F8"/>
          </a:solidFill>
          <a:ln/>
        </p:spPr>
      </p:sp>
      <p:sp>
        <p:nvSpPr>
          <p:cNvPr id="14" name="Shape 12"/>
          <p:cNvSpPr/>
          <p:nvPr/>
        </p:nvSpPr>
        <p:spPr>
          <a:xfrm>
            <a:off x="8275320" y="1645920"/>
            <a:ext cx="502920" cy="502920"/>
          </a:xfrm>
          <a:prstGeom prst="ellipse">
            <a:avLst/>
          </a:prstGeom>
          <a:solidFill>
            <a:srgbClr val="1B2151"/>
          </a:solidFill>
          <a:ln/>
        </p:spPr>
      </p:sp>
      <p:sp>
        <p:nvSpPr>
          <p:cNvPr id="15" name="Text 13"/>
          <p:cNvSpPr/>
          <p:nvPr/>
        </p:nvSpPr>
        <p:spPr>
          <a:xfrm>
            <a:off x="827532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16" name="Text 14"/>
          <p:cNvSpPr/>
          <p:nvPr/>
        </p:nvSpPr>
        <p:spPr>
          <a:xfrm>
            <a:off x="827532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Data Storytelling</a:t>
            </a:r>
            <a:endParaRPr lang="en-US" sz="1400" dirty="0"/>
          </a:p>
        </p:txBody>
      </p:sp>
      <p:sp>
        <p:nvSpPr>
          <p:cNvPr id="17" name="Text 15"/>
          <p:cNvSpPr/>
          <p:nvPr/>
        </p:nvSpPr>
        <p:spPr>
          <a:xfrm>
            <a:off x="8275320" y="2587752"/>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5A5F73"/>
                </a:solidFill>
                <a:latin typeface="Calibri" pitchFamily="34" charset="0"/>
                <a:ea typeface="Calibri" pitchFamily="34" charset="-122"/>
                <a:cs typeface="Calibri" pitchFamily="34" charset="-120"/>
              </a:rPr>
              <a:t>Business reporting and data storytelling</a:t>
            </a:r>
            <a:endParaRPr lang="en-US" sz="1050" dirty="0"/>
          </a:p>
        </p:txBody>
      </p:sp>
      <p:sp>
        <p:nvSpPr>
          <p:cNvPr id="18" name="Shape 16"/>
          <p:cNvSpPr/>
          <p:nvPr/>
        </p:nvSpPr>
        <p:spPr>
          <a:xfrm>
            <a:off x="548640" y="3291840"/>
            <a:ext cx="3520440" cy="1600200"/>
          </a:xfrm>
          <a:prstGeom prst="roundRect">
            <a:avLst>
              <a:gd name="adj" fmla="val 4571"/>
            </a:avLst>
          </a:prstGeom>
          <a:solidFill>
            <a:srgbClr val="F3F4F8"/>
          </a:solidFill>
          <a:ln/>
        </p:spPr>
      </p:sp>
      <p:sp>
        <p:nvSpPr>
          <p:cNvPr id="19" name="Shape 17"/>
          <p:cNvSpPr/>
          <p:nvPr/>
        </p:nvSpPr>
        <p:spPr>
          <a:xfrm>
            <a:off x="777240" y="3520440"/>
            <a:ext cx="502920" cy="502920"/>
          </a:xfrm>
          <a:prstGeom prst="ellipse">
            <a:avLst/>
          </a:prstGeom>
          <a:solidFill>
            <a:srgbClr val="1B2151"/>
          </a:solidFill>
          <a:ln/>
        </p:spPr>
      </p:sp>
      <p:sp>
        <p:nvSpPr>
          <p:cNvPr id="20" name="Text 18"/>
          <p:cNvSpPr/>
          <p:nvPr/>
        </p:nvSpPr>
        <p:spPr>
          <a:xfrm>
            <a:off x="777240" y="3520440"/>
            <a:ext cx="502920" cy="502920"/>
          </a:xfrm>
          <a:prstGeom prst="rect">
            <a:avLst/>
          </a:prstGeom>
          <a:noFill/>
          <a:ln/>
        </p:spPr>
        <p:txBody>
          <a:bodyPr wrap="square" lIns="0" tIns="0" rIns="0" bIns="0" rtlCol="0" anchor="ctr"/>
          <a:lstStyle/>
          <a:p>
            <a:pPr algn="ctr" indent="0" marL="0">
              <a:buNone/>
            </a:pPr>
            <a:endParaRPr lang="en-US" sz="1320" dirty="0"/>
          </a:p>
        </p:txBody>
      </p:sp>
      <p:sp>
        <p:nvSpPr>
          <p:cNvPr id="21" name="Text 19"/>
          <p:cNvSpPr/>
          <p:nvPr/>
        </p:nvSpPr>
        <p:spPr>
          <a:xfrm>
            <a:off x="777240" y="416052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Strategy</a:t>
            </a:r>
            <a:endParaRPr lang="en-US" sz="1400" dirty="0"/>
          </a:p>
        </p:txBody>
      </p:sp>
      <p:sp>
        <p:nvSpPr>
          <p:cNvPr id="22" name="Text 20"/>
          <p:cNvSpPr/>
          <p:nvPr/>
        </p:nvSpPr>
        <p:spPr>
          <a:xfrm>
            <a:off x="777240" y="4462272"/>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5A5F73"/>
                </a:solidFill>
                <a:latin typeface="Calibri" pitchFamily="34" charset="0"/>
                <a:ea typeface="Calibri" pitchFamily="34" charset="-122"/>
                <a:cs typeface="Calibri" pitchFamily="34" charset="-120"/>
              </a:rPr>
              <a:t>AI-driven collections strategy</a:t>
            </a:r>
            <a:endParaRPr lang="en-US" sz="1050" dirty="0"/>
          </a:p>
        </p:txBody>
      </p:sp>
      <p:sp>
        <p:nvSpPr>
          <p:cNvPr id="23" name="Shape 21"/>
          <p:cNvSpPr/>
          <p:nvPr/>
        </p:nvSpPr>
        <p:spPr>
          <a:xfrm>
            <a:off x="4297680" y="3291840"/>
            <a:ext cx="3520440" cy="1600200"/>
          </a:xfrm>
          <a:prstGeom prst="roundRect">
            <a:avLst>
              <a:gd name="adj" fmla="val 4571"/>
            </a:avLst>
          </a:prstGeom>
          <a:solidFill>
            <a:srgbClr val="F3F4F8"/>
          </a:solidFill>
          <a:ln/>
        </p:spPr>
      </p:sp>
      <p:sp>
        <p:nvSpPr>
          <p:cNvPr id="24" name="Shape 22"/>
          <p:cNvSpPr/>
          <p:nvPr/>
        </p:nvSpPr>
        <p:spPr>
          <a:xfrm>
            <a:off x="4526280" y="3520440"/>
            <a:ext cx="502920" cy="502920"/>
          </a:xfrm>
          <a:prstGeom prst="ellipse">
            <a:avLst/>
          </a:prstGeom>
          <a:solidFill>
            <a:srgbClr val="1B2151"/>
          </a:solidFill>
          <a:ln/>
        </p:spPr>
      </p:sp>
      <p:sp>
        <p:nvSpPr>
          <p:cNvPr id="25" name="Text 23"/>
          <p:cNvSpPr/>
          <p:nvPr/>
        </p:nvSpPr>
        <p:spPr>
          <a:xfrm>
            <a:off x="4526280" y="3520440"/>
            <a:ext cx="502920" cy="502920"/>
          </a:xfrm>
          <a:prstGeom prst="rect">
            <a:avLst/>
          </a:prstGeom>
          <a:noFill/>
          <a:ln/>
        </p:spPr>
        <p:txBody>
          <a:bodyPr wrap="square" lIns="0" tIns="0" rIns="0" bIns="0" rtlCol="0" anchor="ctr"/>
          <a:lstStyle/>
          <a:p>
            <a:pPr algn="ctr" indent="0" marL="0">
              <a:buNone/>
            </a:pPr>
            <a:endParaRPr lang="en-US" sz="1320" dirty="0"/>
          </a:p>
        </p:txBody>
      </p:sp>
      <p:sp>
        <p:nvSpPr>
          <p:cNvPr id="26" name="Text 24"/>
          <p:cNvSpPr/>
          <p:nvPr/>
        </p:nvSpPr>
        <p:spPr>
          <a:xfrm>
            <a:off x="4526280" y="416052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Responsible AI</a:t>
            </a:r>
            <a:endParaRPr lang="en-US" sz="1400" dirty="0"/>
          </a:p>
        </p:txBody>
      </p:sp>
      <p:sp>
        <p:nvSpPr>
          <p:cNvPr id="27" name="Text 25"/>
          <p:cNvSpPr/>
          <p:nvPr/>
        </p:nvSpPr>
        <p:spPr>
          <a:xfrm>
            <a:off x="4526280" y="4462272"/>
            <a:ext cx="3063240" cy="384048"/>
          </a:xfrm>
          <a:prstGeom prst="rect">
            <a:avLst/>
          </a:prstGeom>
          <a:noFill/>
          <a:ln/>
        </p:spPr>
        <p:txBody>
          <a:bodyPr wrap="square" lIns="0" tIns="0" rIns="0" bIns="0" rtlCol="0" anchor="ctr"/>
          <a:lstStyle/>
          <a:p>
            <a:pPr indent="0" marL="0">
              <a:lnSpc>
                <a:spcPct val="115000"/>
              </a:lnSpc>
              <a:buNone/>
            </a:pPr>
            <a:r>
              <a:rPr lang="en-US" sz="1050" dirty="0">
                <a:solidFill>
                  <a:srgbClr val="5A5F73"/>
                </a:solidFill>
                <a:latin typeface="Calibri" pitchFamily="34" charset="0"/>
                <a:ea typeface="Calibri" pitchFamily="34" charset="-122"/>
                <a:cs typeface="Calibri" pitchFamily="34" charset="-120"/>
              </a:rPr>
              <a:t>Responsible use of Generative AI</a:t>
            </a:r>
            <a:endParaRPr lang="en-US" sz="10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29" name="Text 27"/>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Project Scope — Four Modules</a:t>
            </a:r>
            <a:endParaRPr lang="en-US" sz="3000" dirty="0"/>
          </a:p>
        </p:txBody>
      </p:sp>
      <p:sp>
        <p:nvSpPr>
          <p:cNvPr id="3" name="Shape 1"/>
          <p:cNvSpPr/>
          <p:nvPr/>
        </p:nvSpPr>
        <p:spPr>
          <a:xfrm>
            <a:off x="548640" y="1691640"/>
            <a:ext cx="2606040" cy="3108960"/>
          </a:xfrm>
          <a:prstGeom prst="roundRect">
            <a:avLst>
              <a:gd name="adj" fmla="val 2807"/>
            </a:avLst>
          </a:prstGeom>
          <a:solidFill>
            <a:srgbClr val="1B2151"/>
          </a:solidFill>
          <a:ln/>
        </p:spPr>
      </p:sp>
      <p:sp>
        <p:nvSpPr>
          <p:cNvPr id="4" name="Text 2"/>
          <p:cNvSpPr/>
          <p:nvPr/>
        </p:nvSpPr>
        <p:spPr>
          <a:xfrm>
            <a:off x="777240" y="1920240"/>
            <a:ext cx="2148840" cy="457200"/>
          </a:xfrm>
          <a:prstGeom prst="rect">
            <a:avLst/>
          </a:prstGeom>
          <a:noFill/>
          <a:ln/>
        </p:spPr>
        <p:txBody>
          <a:bodyPr wrap="square" lIns="0" tIns="0" rIns="0" bIns="0" rtlCol="0" anchor="ctr"/>
          <a:lstStyle/>
          <a:p>
            <a:pPr indent="0" marL="0">
              <a:buNone/>
            </a:pPr>
            <a:r>
              <a:rPr lang="en-US" sz="2200" dirty="0">
                <a:solidFill>
                  <a:srgbClr val="C9A24B"/>
                </a:solidFill>
                <a:latin typeface="Georgia" pitchFamily="34" charset="0"/>
                <a:ea typeface="Georgia" pitchFamily="34" charset="-122"/>
                <a:cs typeface="Georgia" pitchFamily="34" charset="-120"/>
              </a:rPr>
              <a:t>01</a:t>
            </a:r>
            <a:endParaRPr lang="en-US" sz="2200" dirty="0"/>
          </a:p>
        </p:txBody>
      </p:sp>
      <p:sp>
        <p:nvSpPr>
          <p:cNvPr id="5" name="Shape 3"/>
          <p:cNvSpPr/>
          <p:nvPr/>
        </p:nvSpPr>
        <p:spPr>
          <a:xfrm>
            <a:off x="1440180" y="2743200"/>
            <a:ext cx="822960" cy="822960"/>
          </a:xfrm>
          <a:prstGeom prst="ellipse">
            <a:avLst/>
          </a:prstGeom>
          <a:solidFill>
            <a:srgbClr val="2E3672"/>
          </a:solidFill>
          <a:ln/>
        </p:spPr>
      </p:sp>
      <p:sp>
        <p:nvSpPr>
          <p:cNvPr id="6" name="Text 4"/>
          <p:cNvSpPr/>
          <p:nvPr/>
        </p:nvSpPr>
        <p:spPr>
          <a:xfrm>
            <a:off x="1440180" y="2743200"/>
            <a:ext cx="822960" cy="822960"/>
          </a:xfrm>
          <a:prstGeom prst="rect">
            <a:avLst/>
          </a:prstGeom>
          <a:noFill/>
          <a:ln/>
        </p:spPr>
        <p:txBody>
          <a:bodyPr wrap="square" lIns="0" tIns="0" rIns="0" bIns="0" rtlCol="0" anchor="ctr"/>
          <a:lstStyle/>
          <a:p>
            <a:pPr algn="ctr" indent="0" marL="0">
              <a:buNone/>
            </a:pPr>
            <a:endParaRPr lang="en-US" sz="2160" dirty="0"/>
          </a:p>
        </p:txBody>
      </p:sp>
      <p:sp>
        <p:nvSpPr>
          <p:cNvPr id="7" name="Text 5"/>
          <p:cNvSpPr/>
          <p:nvPr/>
        </p:nvSpPr>
        <p:spPr>
          <a:xfrm>
            <a:off x="777240" y="3840480"/>
            <a:ext cx="2148840" cy="822960"/>
          </a:xfrm>
          <a:prstGeom prst="rect">
            <a:avLst/>
          </a:prstGeom>
          <a:noFill/>
          <a:ln/>
        </p:spPr>
        <p:txBody>
          <a:bodyPr wrap="square" lIns="0" tIns="0" rIns="0" bIns="0" rtlCol="0" anchor="t"/>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Exploratory Data Analysis &amp; Risk Profiling</a:t>
            </a:r>
            <a:endParaRPr lang="en-US" sz="1200" dirty="0"/>
          </a:p>
        </p:txBody>
      </p:sp>
      <p:sp>
        <p:nvSpPr>
          <p:cNvPr id="8" name="Text 6"/>
          <p:cNvSpPr/>
          <p:nvPr/>
        </p:nvSpPr>
        <p:spPr>
          <a:xfrm>
            <a:off x="3163824" y="3017520"/>
            <a:ext cx="182880" cy="457200"/>
          </a:xfrm>
          <a:prstGeom prst="rect">
            <a:avLst/>
          </a:prstGeom>
          <a:noFill/>
          <a:ln/>
        </p:spPr>
        <p:txBody>
          <a:bodyPr wrap="square" lIns="0" tIns="0" rIns="0" bIns="0" rtlCol="0" anchor="ctr"/>
          <a:lstStyle/>
          <a:p>
            <a:pPr algn="ctr" indent="0" marL="0">
              <a:buNone/>
            </a:pPr>
            <a:r>
              <a:rPr lang="en-US" sz="1800" b="1" dirty="0">
                <a:solidFill>
                  <a:srgbClr val="C9A24B"/>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355848" y="1691640"/>
            <a:ext cx="2606040" cy="3108960"/>
          </a:xfrm>
          <a:prstGeom prst="roundRect">
            <a:avLst>
              <a:gd name="adj" fmla="val 2807"/>
            </a:avLst>
          </a:prstGeom>
          <a:solidFill>
            <a:srgbClr val="232B63"/>
          </a:solidFill>
          <a:ln/>
        </p:spPr>
      </p:sp>
      <p:sp>
        <p:nvSpPr>
          <p:cNvPr id="10" name="Text 8"/>
          <p:cNvSpPr/>
          <p:nvPr/>
        </p:nvSpPr>
        <p:spPr>
          <a:xfrm>
            <a:off x="3584448" y="1920240"/>
            <a:ext cx="2148840" cy="457200"/>
          </a:xfrm>
          <a:prstGeom prst="rect">
            <a:avLst/>
          </a:prstGeom>
          <a:noFill/>
          <a:ln/>
        </p:spPr>
        <p:txBody>
          <a:bodyPr wrap="square" lIns="0" tIns="0" rIns="0" bIns="0" rtlCol="0" anchor="ctr"/>
          <a:lstStyle/>
          <a:p>
            <a:pPr indent="0" marL="0">
              <a:buNone/>
            </a:pPr>
            <a:r>
              <a:rPr lang="en-US" sz="2200" dirty="0">
                <a:solidFill>
                  <a:srgbClr val="C9A24B"/>
                </a:solidFill>
                <a:latin typeface="Georgia" pitchFamily="34" charset="0"/>
                <a:ea typeface="Georgia" pitchFamily="34" charset="-122"/>
                <a:cs typeface="Georgia" pitchFamily="34" charset="-120"/>
              </a:rPr>
              <a:t>02</a:t>
            </a:r>
            <a:endParaRPr lang="en-US" sz="2200" dirty="0"/>
          </a:p>
        </p:txBody>
      </p:sp>
      <p:sp>
        <p:nvSpPr>
          <p:cNvPr id="11" name="Shape 9"/>
          <p:cNvSpPr/>
          <p:nvPr/>
        </p:nvSpPr>
        <p:spPr>
          <a:xfrm>
            <a:off x="4247388" y="2743200"/>
            <a:ext cx="822960" cy="822960"/>
          </a:xfrm>
          <a:prstGeom prst="ellipse">
            <a:avLst/>
          </a:prstGeom>
          <a:solidFill>
            <a:srgbClr val="2E3672"/>
          </a:solidFill>
          <a:ln/>
        </p:spPr>
      </p:sp>
      <p:sp>
        <p:nvSpPr>
          <p:cNvPr id="12" name="Text 10"/>
          <p:cNvSpPr/>
          <p:nvPr/>
        </p:nvSpPr>
        <p:spPr>
          <a:xfrm>
            <a:off x="4247388" y="2743200"/>
            <a:ext cx="822960" cy="822960"/>
          </a:xfrm>
          <a:prstGeom prst="rect">
            <a:avLst/>
          </a:prstGeom>
          <a:noFill/>
          <a:ln/>
        </p:spPr>
        <p:txBody>
          <a:bodyPr wrap="square" lIns="0" tIns="0" rIns="0" bIns="0" rtlCol="0" anchor="ctr"/>
          <a:lstStyle/>
          <a:p>
            <a:pPr algn="ctr" indent="0" marL="0">
              <a:buNone/>
            </a:pPr>
            <a:endParaRPr lang="en-US" sz="2160" dirty="0"/>
          </a:p>
        </p:txBody>
      </p:sp>
      <p:sp>
        <p:nvSpPr>
          <p:cNvPr id="13" name="Text 11"/>
          <p:cNvSpPr/>
          <p:nvPr/>
        </p:nvSpPr>
        <p:spPr>
          <a:xfrm>
            <a:off x="3584448" y="3840480"/>
            <a:ext cx="2148840" cy="822960"/>
          </a:xfrm>
          <a:prstGeom prst="rect">
            <a:avLst/>
          </a:prstGeom>
          <a:noFill/>
          <a:ln/>
        </p:spPr>
        <p:txBody>
          <a:bodyPr wrap="square" lIns="0" tIns="0" rIns="0" bIns="0" rtlCol="0" anchor="t"/>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Predicting Delinquency with AI</a:t>
            </a:r>
            <a:endParaRPr lang="en-US" sz="1200" dirty="0"/>
          </a:p>
        </p:txBody>
      </p:sp>
      <p:sp>
        <p:nvSpPr>
          <p:cNvPr id="14" name="Text 12"/>
          <p:cNvSpPr/>
          <p:nvPr/>
        </p:nvSpPr>
        <p:spPr>
          <a:xfrm>
            <a:off x="5971032" y="3017520"/>
            <a:ext cx="182880" cy="457200"/>
          </a:xfrm>
          <a:prstGeom prst="rect">
            <a:avLst/>
          </a:prstGeom>
          <a:noFill/>
          <a:ln/>
        </p:spPr>
        <p:txBody>
          <a:bodyPr wrap="square" lIns="0" tIns="0" rIns="0" bIns="0" rtlCol="0" anchor="ctr"/>
          <a:lstStyle/>
          <a:p>
            <a:pPr algn="ctr" indent="0" marL="0">
              <a:buNone/>
            </a:pPr>
            <a:r>
              <a:rPr lang="en-US" sz="1800" b="1" dirty="0">
                <a:solidFill>
                  <a:srgbClr val="C9A24B"/>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163056" y="1691640"/>
            <a:ext cx="2606040" cy="3108960"/>
          </a:xfrm>
          <a:prstGeom prst="roundRect">
            <a:avLst>
              <a:gd name="adj" fmla="val 2807"/>
            </a:avLst>
          </a:prstGeom>
          <a:solidFill>
            <a:srgbClr val="1B2151"/>
          </a:solidFill>
          <a:ln/>
        </p:spPr>
      </p:sp>
      <p:sp>
        <p:nvSpPr>
          <p:cNvPr id="16" name="Text 14"/>
          <p:cNvSpPr/>
          <p:nvPr/>
        </p:nvSpPr>
        <p:spPr>
          <a:xfrm>
            <a:off x="6391656" y="1920240"/>
            <a:ext cx="2148840" cy="457200"/>
          </a:xfrm>
          <a:prstGeom prst="rect">
            <a:avLst/>
          </a:prstGeom>
          <a:noFill/>
          <a:ln/>
        </p:spPr>
        <p:txBody>
          <a:bodyPr wrap="square" lIns="0" tIns="0" rIns="0" bIns="0" rtlCol="0" anchor="ctr"/>
          <a:lstStyle/>
          <a:p>
            <a:pPr indent="0" marL="0">
              <a:buNone/>
            </a:pPr>
            <a:r>
              <a:rPr lang="en-US" sz="2200" dirty="0">
                <a:solidFill>
                  <a:srgbClr val="C9A24B"/>
                </a:solidFill>
                <a:latin typeface="Georgia" pitchFamily="34" charset="0"/>
                <a:ea typeface="Georgia" pitchFamily="34" charset="-122"/>
                <a:cs typeface="Georgia" pitchFamily="34" charset="-120"/>
              </a:rPr>
              <a:t>03</a:t>
            </a:r>
            <a:endParaRPr lang="en-US" sz="2200" dirty="0"/>
          </a:p>
        </p:txBody>
      </p:sp>
      <p:sp>
        <p:nvSpPr>
          <p:cNvPr id="17" name="Shape 15"/>
          <p:cNvSpPr/>
          <p:nvPr/>
        </p:nvSpPr>
        <p:spPr>
          <a:xfrm>
            <a:off x="7054596" y="2743200"/>
            <a:ext cx="822960" cy="822960"/>
          </a:xfrm>
          <a:prstGeom prst="ellipse">
            <a:avLst/>
          </a:prstGeom>
          <a:solidFill>
            <a:srgbClr val="2E3672"/>
          </a:solidFill>
          <a:ln/>
        </p:spPr>
      </p:sp>
      <p:sp>
        <p:nvSpPr>
          <p:cNvPr id="18" name="Text 16"/>
          <p:cNvSpPr/>
          <p:nvPr/>
        </p:nvSpPr>
        <p:spPr>
          <a:xfrm>
            <a:off x="7054596" y="2743200"/>
            <a:ext cx="822960" cy="822960"/>
          </a:xfrm>
          <a:prstGeom prst="rect">
            <a:avLst/>
          </a:prstGeom>
          <a:noFill/>
          <a:ln/>
        </p:spPr>
        <p:txBody>
          <a:bodyPr wrap="square" lIns="0" tIns="0" rIns="0" bIns="0" rtlCol="0" anchor="ctr"/>
          <a:lstStyle/>
          <a:p>
            <a:pPr algn="ctr" indent="0" marL="0">
              <a:buNone/>
            </a:pPr>
            <a:endParaRPr lang="en-US" sz="2160" dirty="0"/>
          </a:p>
        </p:txBody>
      </p:sp>
      <p:sp>
        <p:nvSpPr>
          <p:cNvPr id="19" name="Text 17"/>
          <p:cNvSpPr/>
          <p:nvPr/>
        </p:nvSpPr>
        <p:spPr>
          <a:xfrm>
            <a:off x="6391656" y="3840480"/>
            <a:ext cx="2148840" cy="822960"/>
          </a:xfrm>
          <a:prstGeom prst="rect">
            <a:avLst/>
          </a:prstGeom>
          <a:noFill/>
          <a:ln/>
        </p:spPr>
        <p:txBody>
          <a:bodyPr wrap="square" lIns="0" tIns="0" rIns="0" bIns="0" rtlCol="0" anchor="t"/>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Business Report &amp; Data Storytelling for Collections</a:t>
            </a:r>
            <a:endParaRPr lang="en-US" sz="1200" dirty="0"/>
          </a:p>
        </p:txBody>
      </p:sp>
      <p:sp>
        <p:nvSpPr>
          <p:cNvPr id="20" name="Text 18"/>
          <p:cNvSpPr/>
          <p:nvPr/>
        </p:nvSpPr>
        <p:spPr>
          <a:xfrm>
            <a:off x="8778240" y="3017520"/>
            <a:ext cx="182880" cy="457200"/>
          </a:xfrm>
          <a:prstGeom prst="rect">
            <a:avLst/>
          </a:prstGeom>
          <a:noFill/>
          <a:ln/>
        </p:spPr>
        <p:txBody>
          <a:bodyPr wrap="square" lIns="0" tIns="0" rIns="0" bIns="0" rtlCol="0" anchor="ctr"/>
          <a:lstStyle/>
          <a:p>
            <a:pPr algn="ctr" indent="0" marL="0">
              <a:buNone/>
            </a:pPr>
            <a:r>
              <a:rPr lang="en-US" sz="1800" b="1" dirty="0">
                <a:solidFill>
                  <a:srgbClr val="C9A24B"/>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8970264" y="1691640"/>
            <a:ext cx="2606040" cy="3108960"/>
          </a:xfrm>
          <a:prstGeom prst="roundRect">
            <a:avLst>
              <a:gd name="adj" fmla="val 2807"/>
            </a:avLst>
          </a:prstGeom>
          <a:solidFill>
            <a:srgbClr val="232B63"/>
          </a:solidFill>
          <a:ln/>
        </p:spPr>
      </p:sp>
      <p:sp>
        <p:nvSpPr>
          <p:cNvPr id="22" name="Text 20"/>
          <p:cNvSpPr/>
          <p:nvPr/>
        </p:nvSpPr>
        <p:spPr>
          <a:xfrm>
            <a:off x="9198864" y="1920240"/>
            <a:ext cx="2148840" cy="457200"/>
          </a:xfrm>
          <a:prstGeom prst="rect">
            <a:avLst/>
          </a:prstGeom>
          <a:noFill/>
          <a:ln/>
        </p:spPr>
        <p:txBody>
          <a:bodyPr wrap="square" lIns="0" tIns="0" rIns="0" bIns="0" rtlCol="0" anchor="ctr"/>
          <a:lstStyle/>
          <a:p>
            <a:pPr indent="0" marL="0">
              <a:buNone/>
            </a:pPr>
            <a:r>
              <a:rPr lang="en-US" sz="2200" dirty="0">
                <a:solidFill>
                  <a:srgbClr val="C9A24B"/>
                </a:solidFill>
                <a:latin typeface="Georgia" pitchFamily="34" charset="0"/>
                <a:ea typeface="Georgia" pitchFamily="34" charset="-122"/>
                <a:cs typeface="Georgia" pitchFamily="34" charset="-120"/>
              </a:rPr>
              <a:t>04</a:t>
            </a:r>
            <a:endParaRPr lang="en-US" sz="2200" dirty="0"/>
          </a:p>
        </p:txBody>
      </p:sp>
      <p:sp>
        <p:nvSpPr>
          <p:cNvPr id="23" name="Shape 21"/>
          <p:cNvSpPr/>
          <p:nvPr/>
        </p:nvSpPr>
        <p:spPr>
          <a:xfrm>
            <a:off x="9861804" y="2743200"/>
            <a:ext cx="822960" cy="822960"/>
          </a:xfrm>
          <a:prstGeom prst="ellipse">
            <a:avLst/>
          </a:prstGeom>
          <a:solidFill>
            <a:srgbClr val="2E3672"/>
          </a:solidFill>
          <a:ln/>
        </p:spPr>
      </p:sp>
      <p:sp>
        <p:nvSpPr>
          <p:cNvPr id="24" name="Text 22"/>
          <p:cNvSpPr/>
          <p:nvPr/>
        </p:nvSpPr>
        <p:spPr>
          <a:xfrm>
            <a:off x="9861804" y="2743200"/>
            <a:ext cx="822960" cy="822960"/>
          </a:xfrm>
          <a:prstGeom prst="rect">
            <a:avLst/>
          </a:prstGeom>
          <a:noFill/>
          <a:ln/>
        </p:spPr>
        <p:txBody>
          <a:bodyPr wrap="square" lIns="0" tIns="0" rIns="0" bIns="0" rtlCol="0" anchor="ctr"/>
          <a:lstStyle/>
          <a:p>
            <a:pPr algn="ctr" indent="0" marL="0">
              <a:buNone/>
            </a:pPr>
            <a:endParaRPr lang="en-US" sz="2160" dirty="0"/>
          </a:p>
        </p:txBody>
      </p:sp>
      <p:sp>
        <p:nvSpPr>
          <p:cNvPr id="25" name="Text 23"/>
          <p:cNvSpPr/>
          <p:nvPr/>
        </p:nvSpPr>
        <p:spPr>
          <a:xfrm>
            <a:off x="9198864" y="3840480"/>
            <a:ext cx="2148840" cy="822960"/>
          </a:xfrm>
          <a:prstGeom prst="rect">
            <a:avLst/>
          </a:prstGeom>
          <a:noFill/>
          <a:ln/>
        </p:spPr>
        <p:txBody>
          <a:bodyPr wrap="square" lIns="0" tIns="0" rIns="0" bIns="0" rtlCol="0" anchor="t"/>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Implementing an AI-Driven Collections Strategy</a:t>
            </a:r>
            <a:endParaRPr lang="en-US" sz="1200" dirty="0"/>
          </a:p>
        </p:txBody>
      </p:sp>
      <p:sp>
        <p:nvSpPr>
          <p:cNvPr id="26" name="Text 24"/>
          <p:cNvSpPr/>
          <p:nvPr/>
        </p:nvSpPr>
        <p:spPr>
          <a:xfrm>
            <a:off x="548640" y="5074920"/>
            <a:ext cx="10881360" cy="365760"/>
          </a:xfrm>
          <a:prstGeom prst="rect">
            <a:avLst/>
          </a:prstGeom>
          <a:noFill/>
          <a:ln/>
        </p:spPr>
        <p:txBody>
          <a:bodyPr wrap="square" lIns="0" tIns="0" rIns="0" bIns="0" rtlCol="0" anchor="ctr"/>
          <a:lstStyle/>
          <a:p>
            <a:pPr indent="0" marL="0">
              <a:buNone/>
            </a:pPr>
            <a:r>
              <a:rPr lang="en-US" sz="1200" i="1" dirty="0">
                <a:solidFill>
                  <a:srgbClr val="5A5F73"/>
                </a:solidFill>
                <a:latin typeface="Calibri" pitchFamily="34" charset="0"/>
                <a:ea typeface="Calibri" pitchFamily="34" charset="-122"/>
                <a:cs typeface="Calibri" pitchFamily="34" charset="-120"/>
              </a:rPr>
              <a:t>A sequential four-module workflow — each stage builds on the outputs of the one before it.</a:t>
            </a:r>
            <a:endParaRPr lang="en-US" sz="1200" dirty="0"/>
          </a:p>
        </p:txBody>
      </p:sp>
      <p:sp>
        <p:nvSpPr>
          <p:cNvPr id="27" name="Text 2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28" name="Text 26"/>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Technologies and Tools</a:t>
            </a:r>
            <a:endParaRPr lang="en-US" sz="3000" dirty="0"/>
          </a:p>
        </p:txBody>
      </p:sp>
      <p:sp>
        <p:nvSpPr>
          <p:cNvPr id="3" name="Shape 1"/>
          <p:cNvSpPr/>
          <p:nvPr/>
        </p:nvSpPr>
        <p:spPr>
          <a:xfrm>
            <a:off x="548640" y="1417320"/>
            <a:ext cx="3520440" cy="1600200"/>
          </a:xfrm>
          <a:prstGeom prst="roundRect">
            <a:avLst>
              <a:gd name="adj" fmla="val 4571"/>
            </a:avLst>
          </a:prstGeom>
          <a:solidFill>
            <a:srgbClr val="F3F4F8"/>
          </a:solidFill>
          <a:ln/>
        </p:spPr>
      </p:sp>
      <p:sp>
        <p:nvSpPr>
          <p:cNvPr id="4" name="Shape 2"/>
          <p:cNvSpPr/>
          <p:nvPr/>
        </p:nvSpPr>
        <p:spPr>
          <a:xfrm>
            <a:off x="777240" y="1645920"/>
            <a:ext cx="502920" cy="502920"/>
          </a:xfrm>
          <a:prstGeom prst="ellipse">
            <a:avLst/>
          </a:prstGeom>
          <a:solidFill>
            <a:srgbClr val="1B2151"/>
          </a:solidFill>
          <a:ln/>
        </p:spPr>
      </p:sp>
      <p:sp>
        <p:nvSpPr>
          <p:cNvPr id="5" name="Text 3"/>
          <p:cNvSpPr/>
          <p:nvPr/>
        </p:nvSpPr>
        <p:spPr>
          <a:xfrm>
            <a:off x="77724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6" name="Text 4"/>
          <p:cNvSpPr/>
          <p:nvPr/>
        </p:nvSpPr>
        <p:spPr>
          <a:xfrm>
            <a:off x="77724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Forage Platform</a:t>
            </a:r>
            <a:endParaRPr lang="en-US" sz="1400" dirty="0"/>
          </a:p>
        </p:txBody>
      </p:sp>
      <p:sp>
        <p:nvSpPr>
          <p:cNvPr id="7" name="Text 5"/>
          <p:cNvSpPr/>
          <p:nvPr/>
        </p:nvSpPr>
        <p:spPr>
          <a:xfrm>
            <a:off x="777240" y="258775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Access to task briefs, datasets, and submission workflows</a:t>
            </a:r>
            <a:endParaRPr lang="en-US" sz="1000" dirty="0"/>
          </a:p>
        </p:txBody>
      </p:sp>
      <p:sp>
        <p:nvSpPr>
          <p:cNvPr id="8" name="Shape 6"/>
          <p:cNvSpPr/>
          <p:nvPr/>
        </p:nvSpPr>
        <p:spPr>
          <a:xfrm>
            <a:off x="4297680" y="1417320"/>
            <a:ext cx="3520440" cy="1600200"/>
          </a:xfrm>
          <a:prstGeom prst="roundRect">
            <a:avLst>
              <a:gd name="adj" fmla="val 4571"/>
            </a:avLst>
          </a:prstGeom>
          <a:solidFill>
            <a:srgbClr val="F3F4F8"/>
          </a:solidFill>
          <a:ln/>
        </p:spPr>
      </p:sp>
      <p:sp>
        <p:nvSpPr>
          <p:cNvPr id="9" name="Shape 7"/>
          <p:cNvSpPr/>
          <p:nvPr/>
        </p:nvSpPr>
        <p:spPr>
          <a:xfrm>
            <a:off x="4526280" y="1645920"/>
            <a:ext cx="502920" cy="502920"/>
          </a:xfrm>
          <a:prstGeom prst="ellipse">
            <a:avLst/>
          </a:prstGeom>
          <a:solidFill>
            <a:srgbClr val="1B2151"/>
          </a:solidFill>
          <a:ln/>
        </p:spPr>
      </p:sp>
      <p:sp>
        <p:nvSpPr>
          <p:cNvPr id="10" name="Text 8"/>
          <p:cNvSpPr/>
          <p:nvPr/>
        </p:nvSpPr>
        <p:spPr>
          <a:xfrm>
            <a:off x="452628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11" name="Text 9"/>
          <p:cNvSpPr/>
          <p:nvPr/>
        </p:nvSpPr>
        <p:spPr>
          <a:xfrm>
            <a:off x="452628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Generative AI Tools</a:t>
            </a:r>
            <a:endParaRPr lang="en-US" sz="1400" dirty="0"/>
          </a:p>
        </p:txBody>
      </p:sp>
      <p:sp>
        <p:nvSpPr>
          <p:cNvPr id="12" name="Text 10"/>
          <p:cNvSpPr/>
          <p:nvPr/>
        </p:nvSpPr>
        <p:spPr>
          <a:xfrm>
            <a:off x="4526280" y="258775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Accelerating exploratory analysis, prediction, and report drafting</a:t>
            </a:r>
            <a:endParaRPr lang="en-US" sz="1000" dirty="0"/>
          </a:p>
        </p:txBody>
      </p:sp>
      <p:sp>
        <p:nvSpPr>
          <p:cNvPr id="13" name="Shape 11"/>
          <p:cNvSpPr/>
          <p:nvPr/>
        </p:nvSpPr>
        <p:spPr>
          <a:xfrm>
            <a:off x="8046720" y="1417320"/>
            <a:ext cx="3520440" cy="1600200"/>
          </a:xfrm>
          <a:prstGeom prst="roundRect">
            <a:avLst>
              <a:gd name="adj" fmla="val 4571"/>
            </a:avLst>
          </a:prstGeom>
          <a:solidFill>
            <a:srgbClr val="F3F4F8"/>
          </a:solidFill>
          <a:ln/>
        </p:spPr>
      </p:sp>
      <p:sp>
        <p:nvSpPr>
          <p:cNvPr id="14" name="Shape 12"/>
          <p:cNvSpPr/>
          <p:nvPr/>
        </p:nvSpPr>
        <p:spPr>
          <a:xfrm>
            <a:off x="8275320" y="1645920"/>
            <a:ext cx="502920" cy="502920"/>
          </a:xfrm>
          <a:prstGeom prst="ellipse">
            <a:avLst/>
          </a:prstGeom>
          <a:solidFill>
            <a:srgbClr val="1B2151"/>
          </a:solidFill>
          <a:ln/>
        </p:spPr>
      </p:sp>
      <p:sp>
        <p:nvSpPr>
          <p:cNvPr id="15" name="Text 13"/>
          <p:cNvSpPr/>
          <p:nvPr/>
        </p:nvSpPr>
        <p:spPr>
          <a:xfrm>
            <a:off x="8275320" y="1645920"/>
            <a:ext cx="502920" cy="502920"/>
          </a:xfrm>
          <a:prstGeom prst="rect">
            <a:avLst/>
          </a:prstGeom>
          <a:noFill/>
          <a:ln/>
        </p:spPr>
        <p:txBody>
          <a:bodyPr wrap="square" lIns="0" tIns="0" rIns="0" bIns="0" rtlCol="0" anchor="ctr"/>
          <a:lstStyle/>
          <a:p>
            <a:pPr algn="ctr" indent="0" marL="0">
              <a:buNone/>
            </a:pPr>
            <a:endParaRPr lang="en-US" sz="1320" dirty="0"/>
          </a:p>
        </p:txBody>
      </p:sp>
      <p:sp>
        <p:nvSpPr>
          <p:cNvPr id="16" name="Text 14"/>
          <p:cNvSpPr/>
          <p:nvPr/>
        </p:nvSpPr>
        <p:spPr>
          <a:xfrm>
            <a:off x="8275320" y="228600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Data Analysis</a:t>
            </a:r>
            <a:endParaRPr lang="en-US" sz="1400" dirty="0"/>
          </a:p>
        </p:txBody>
      </p:sp>
      <p:sp>
        <p:nvSpPr>
          <p:cNvPr id="17" name="Text 15"/>
          <p:cNvSpPr/>
          <p:nvPr/>
        </p:nvSpPr>
        <p:spPr>
          <a:xfrm>
            <a:off x="8275320" y="258775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Spreadsheet/data-analysis tools for exploratory analysis and risk profiling</a:t>
            </a:r>
            <a:endParaRPr lang="en-US" sz="1000" dirty="0"/>
          </a:p>
        </p:txBody>
      </p:sp>
      <p:sp>
        <p:nvSpPr>
          <p:cNvPr id="18" name="Shape 16"/>
          <p:cNvSpPr/>
          <p:nvPr/>
        </p:nvSpPr>
        <p:spPr>
          <a:xfrm>
            <a:off x="548640" y="3291840"/>
            <a:ext cx="3520440" cy="1600200"/>
          </a:xfrm>
          <a:prstGeom prst="roundRect">
            <a:avLst>
              <a:gd name="adj" fmla="val 4571"/>
            </a:avLst>
          </a:prstGeom>
          <a:solidFill>
            <a:srgbClr val="F3F4F8"/>
          </a:solidFill>
          <a:ln/>
        </p:spPr>
      </p:sp>
      <p:sp>
        <p:nvSpPr>
          <p:cNvPr id="19" name="Shape 17"/>
          <p:cNvSpPr/>
          <p:nvPr/>
        </p:nvSpPr>
        <p:spPr>
          <a:xfrm>
            <a:off x="777240" y="3520440"/>
            <a:ext cx="502920" cy="502920"/>
          </a:xfrm>
          <a:prstGeom prst="ellipse">
            <a:avLst/>
          </a:prstGeom>
          <a:solidFill>
            <a:srgbClr val="1B2151"/>
          </a:solidFill>
          <a:ln/>
        </p:spPr>
      </p:sp>
      <p:sp>
        <p:nvSpPr>
          <p:cNvPr id="20" name="Text 18"/>
          <p:cNvSpPr/>
          <p:nvPr/>
        </p:nvSpPr>
        <p:spPr>
          <a:xfrm>
            <a:off x="777240" y="3520440"/>
            <a:ext cx="502920" cy="502920"/>
          </a:xfrm>
          <a:prstGeom prst="rect">
            <a:avLst/>
          </a:prstGeom>
          <a:noFill/>
          <a:ln/>
        </p:spPr>
        <p:txBody>
          <a:bodyPr wrap="square" lIns="0" tIns="0" rIns="0" bIns="0" rtlCol="0" anchor="ctr"/>
          <a:lstStyle/>
          <a:p>
            <a:pPr algn="ctr" indent="0" marL="0">
              <a:buNone/>
            </a:pPr>
            <a:endParaRPr lang="en-US" sz="1320" dirty="0"/>
          </a:p>
        </p:txBody>
      </p:sp>
      <p:sp>
        <p:nvSpPr>
          <p:cNvPr id="21" name="Text 19"/>
          <p:cNvSpPr/>
          <p:nvPr/>
        </p:nvSpPr>
        <p:spPr>
          <a:xfrm>
            <a:off x="777240" y="416052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AI-Assisted Prediction</a:t>
            </a:r>
            <a:endParaRPr lang="en-US" sz="1400" dirty="0"/>
          </a:p>
        </p:txBody>
      </p:sp>
      <p:sp>
        <p:nvSpPr>
          <p:cNvPr id="22" name="Text 20"/>
          <p:cNvSpPr/>
          <p:nvPr/>
        </p:nvSpPr>
        <p:spPr>
          <a:xfrm>
            <a:off x="777240" y="446227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Applying AI-assisted methods to delinquency prediction</a:t>
            </a:r>
            <a:endParaRPr lang="en-US" sz="1000" dirty="0"/>
          </a:p>
        </p:txBody>
      </p:sp>
      <p:sp>
        <p:nvSpPr>
          <p:cNvPr id="23" name="Shape 21"/>
          <p:cNvSpPr/>
          <p:nvPr/>
        </p:nvSpPr>
        <p:spPr>
          <a:xfrm>
            <a:off x="4297680" y="3291840"/>
            <a:ext cx="3520440" cy="1600200"/>
          </a:xfrm>
          <a:prstGeom prst="roundRect">
            <a:avLst>
              <a:gd name="adj" fmla="val 4571"/>
            </a:avLst>
          </a:prstGeom>
          <a:solidFill>
            <a:srgbClr val="F3F4F8"/>
          </a:solidFill>
          <a:ln/>
        </p:spPr>
      </p:sp>
      <p:sp>
        <p:nvSpPr>
          <p:cNvPr id="24" name="Shape 22"/>
          <p:cNvSpPr/>
          <p:nvPr/>
        </p:nvSpPr>
        <p:spPr>
          <a:xfrm>
            <a:off x="4526280" y="3520440"/>
            <a:ext cx="502920" cy="502920"/>
          </a:xfrm>
          <a:prstGeom prst="ellipse">
            <a:avLst/>
          </a:prstGeom>
          <a:solidFill>
            <a:srgbClr val="1B2151"/>
          </a:solidFill>
          <a:ln/>
        </p:spPr>
      </p:sp>
      <p:sp>
        <p:nvSpPr>
          <p:cNvPr id="25" name="Text 23"/>
          <p:cNvSpPr/>
          <p:nvPr/>
        </p:nvSpPr>
        <p:spPr>
          <a:xfrm>
            <a:off x="4526280" y="3520440"/>
            <a:ext cx="502920" cy="502920"/>
          </a:xfrm>
          <a:prstGeom prst="rect">
            <a:avLst/>
          </a:prstGeom>
          <a:noFill/>
          <a:ln/>
        </p:spPr>
        <p:txBody>
          <a:bodyPr wrap="square" lIns="0" tIns="0" rIns="0" bIns="0" rtlCol="0" anchor="ctr"/>
          <a:lstStyle/>
          <a:p>
            <a:pPr algn="ctr" indent="0" marL="0">
              <a:buNone/>
            </a:pPr>
            <a:endParaRPr lang="en-US" sz="1320" dirty="0"/>
          </a:p>
        </p:txBody>
      </p:sp>
      <p:sp>
        <p:nvSpPr>
          <p:cNvPr id="26" name="Text 24"/>
          <p:cNvSpPr/>
          <p:nvPr/>
        </p:nvSpPr>
        <p:spPr>
          <a:xfrm>
            <a:off x="4526280" y="416052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Business Reporting</a:t>
            </a:r>
            <a:endParaRPr lang="en-US" sz="1400" dirty="0"/>
          </a:p>
        </p:txBody>
      </p:sp>
      <p:sp>
        <p:nvSpPr>
          <p:cNvPr id="27" name="Text 25"/>
          <p:cNvSpPr/>
          <p:nvPr/>
        </p:nvSpPr>
        <p:spPr>
          <a:xfrm>
            <a:off x="4526280" y="446227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Structured business report formats</a:t>
            </a:r>
            <a:endParaRPr lang="en-US" sz="1000" dirty="0"/>
          </a:p>
        </p:txBody>
      </p:sp>
      <p:sp>
        <p:nvSpPr>
          <p:cNvPr id="28" name="Shape 26"/>
          <p:cNvSpPr/>
          <p:nvPr/>
        </p:nvSpPr>
        <p:spPr>
          <a:xfrm>
            <a:off x="8046720" y="3291840"/>
            <a:ext cx="3520440" cy="1600200"/>
          </a:xfrm>
          <a:prstGeom prst="roundRect">
            <a:avLst>
              <a:gd name="adj" fmla="val 4571"/>
            </a:avLst>
          </a:prstGeom>
          <a:solidFill>
            <a:srgbClr val="F3F4F8"/>
          </a:solidFill>
          <a:ln/>
        </p:spPr>
      </p:sp>
      <p:sp>
        <p:nvSpPr>
          <p:cNvPr id="29" name="Shape 27"/>
          <p:cNvSpPr/>
          <p:nvPr/>
        </p:nvSpPr>
        <p:spPr>
          <a:xfrm>
            <a:off x="8275320" y="3520440"/>
            <a:ext cx="502920" cy="502920"/>
          </a:xfrm>
          <a:prstGeom prst="ellipse">
            <a:avLst/>
          </a:prstGeom>
          <a:solidFill>
            <a:srgbClr val="1B2151"/>
          </a:solidFill>
          <a:ln/>
        </p:spPr>
      </p:sp>
      <p:sp>
        <p:nvSpPr>
          <p:cNvPr id="30" name="Text 28"/>
          <p:cNvSpPr/>
          <p:nvPr/>
        </p:nvSpPr>
        <p:spPr>
          <a:xfrm>
            <a:off x="8275320" y="3520440"/>
            <a:ext cx="502920" cy="502920"/>
          </a:xfrm>
          <a:prstGeom prst="rect">
            <a:avLst/>
          </a:prstGeom>
          <a:noFill/>
          <a:ln/>
        </p:spPr>
        <p:txBody>
          <a:bodyPr wrap="square" lIns="0" tIns="0" rIns="0" bIns="0" rtlCol="0" anchor="ctr"/>
          <a:lstStyle/>
          <a:p>
            <a:pPr algn="ctr" indent="0" marL="0">
              <a:buNone/>
            </a:pPr>
            <a:endParaRPr lang="en-US" sz="1320" dirty="0"/>
          </a:p>
        </p:txBody>
      </p:sp>
      <p:sp>
        <p:nvSpPr>
          <p:cNvPr id="31" name="Text 29"/>
          <p:cNvSpPr/>
          <p:nvPr/>
        </p:nvSpPr>
        <p:spPr>
          <a:xfrm>
            <a:off x="8275320" y="4160520"/>
            <a:ext cx="3063240" cy="320040"/>
          </a:xfrm>
          <a:prstGeom prst="rect">
            <a:avLst/>
          </a:prstGeom>
          <a:noFill/>
          <a:ln/>
        </p:spPr>
        <p:txBody>
          <a:bodyPr wrap="square" lIns="0" tIns="0" rIns="0" bIns="0" rtlCol="0" anchor="ctr"/>
          <a:lstStyle/>
          <a:p>
            <a:pPr indent="0" marL="0">
              <a:buNone/>
            </a:pPr>
            <a:r>
              <a:rPr lang="en-US" sz="1400" dirty="0">
                <a:solidFill>
                  <a:srgbClr val="1B2151"/>
                </a:solidFill>
                <a:latin typeface="Georgia" pitchFamily="34" charset="0"/>
                <a:ea typeface="Georgia" pitchFamily="34" charset="-122"/>
                <a:cs typeface="Georgia" pitchFamily="34" charset="-120"/>
              </a:rPr>
              <a:t>Data Storytelling</a:t>
            </a:r>
            <a:endParaRPr lang="en-US" sz="1400" dirty="0"/>
          </a:p>
        </p:txBody>
      </p:sp>
      <p:sp>
        <p:nvSpPr>
          <p:cNvPr id="32" name="Text 30"/>
          <p:cNvSpPr/>
          <p:nvPr/>
        </p:nvSpPr>
        <p:spPr>
          <a:xfrm>
            <a:off x="8275320" y="4462272"/>
            <a:ext cx="3063240" cy="384048"/>
          </a:xfrm>
          <a:prstGeom prst="rect">
            <a:avLst/>
          </a:prstGeom>
          <a:noFill/>
          <a:ln/>
        </p:spPr>
        <p:txBody>
          <a:bodyPr wrap="square" lIns="0" tIns="0" rIns="0" bIns="0" rtlCol="0" anchor="ctr"/>
          <a:lstStyle/>
          <a:p>
            <a:pPr indent="0" marL="0">
              <a:lnSpc>
                <a:spcPct val="115000"/>
              </a:lnSpc>
              <a:buNone/>
            </a:pPr>
            <a:r>
              <a:rPr lang="en-US" sz="1000" dirty="0">
                <a:solidFill>
                  <a:srgbClr val="5A5F73"/>
                </a:solidFill>
                <a:latin typeface="Calibri" pitchFamily="34" charset="0"/>
                <a:ea typeface="Calibri" pitchFamily="34" charset="-122"/>
                <a:cs typeface="Calibri" pitchFamily="34" charset="-120"/>
              </a:rPr>
              <a:t>Communicating findings through narrative-driven presentation</a:t>
            </a:r>
            <a:endParaRPr lang="en-US" sz="1000" dirty="0"/>
          </a:p>
        </p:txBody>
      </p:sp>
      <p:sp>
        <p:nvSpPr>
          <p:cNvPr id="33" name="Text 3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34" name="Text 32"/>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151"/>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2800" dirty="0">
                <a:solidFill>
                  <a:srgbClr val="FFFFFF"/>
                </a:solidFill>
                <a:latin typeface="Georgia" pitchFamily="34" charset="0"/>
                <a:ea typeface="Georgia" pitchFamily="34" charset="-122"/>
                <a:cs typeface="Georgia" pitchFamily="34" charset="-120"/>
              </a:rPr>
              <a:t>System Architecture / Work Process</a:t>
            </a:r>
            <a:endParaRPr lang="en-US" sz="2800" dirty="0"/>
          </a:p>
        </p:txBody>
      </p:sp>
      <p:sp>
        <p:nvSpPr>
          <p:cNvPr id="3" name="Shape 1"/>
          <p:cNvSpPr/>
          <p:nvPr/>
        </p:nvSpPr>
        <p:spPr>
          <a:xfrm>
            <a:off x="2103120" y="1417320"/>
            <a:ext cx="8046720" cy="621792"/>
          </a:xfrm>
          <a:prstGeom prst="roundRect">
            <a:avLst>
              <a:gd name="adj" fmla="val 8824"/>
            </a:avLst>
          </a:prstGeom>
          <a:solidFill>
            <a:srgbClr val="FFFFFF"/>
          </a:solidFill>
          <a:ln/>
        </p:spPr>
      </p:sp>
      <p:sp>
        <p:nvSpPr>
          <p:cNvPr id="4" name="Shape 2"/>
          <p:cNvSpPr/>
          <p:nvPr/>
        </p:nvSpPr>
        <p:spPr>
          <a:xfrm>
            <a:off x="2240280" y="1517904"/>
            <a:ext cx="420624" cy="420624"/>
          </a:xfrm>
          <a:prstGeom prst="ellipse">
            <a:avLst/>
          </a:prstGeom>
          <a:solidFill>
            <a:srgbClr val="1B2151"/>
          </a:solidFill>
          <a:ln/>
        </p:spPr>
      </p:sp>
      <p:sp>
        <p:nvSpPr>
          <p:cNvPr id="5" name="Text 3"/>
          <p:cNvSpPr/>
          <p:nvPr/>
        </p:nvSpPr>
        <p:spPr>
          <a:xfrm>
            <a:off x="2240280" y="1517904"/>
            <a:ext cx="420624" cy="420624"/>
          </a:xfrm>
          <a:prstGeom prst="rect">
            <a:avLst/>
          </a:prstGeom>
          <a:noFill/>
          <a:ln/>
        </p:spPr>
        <p:txBody>
          <a:bodyPr wrap="square" lIns="0" tIns="0" rIns="0" bIns="0" rtlCol="0" anchor="ctr"/>
          <a:lstStyle/>
          <a:p>
            <a:pPr algn="ctr" indent="0" marL="0">
              <a:buNone/>
            </a:pPr>
            <a:endParaRPr lang="en-US" sz="1104" dirty="0"/>
          </a:p>
        </p:txBody>
      </p:sp>
      <p:sp>
        <p:nvSpPr>
          <p:cNvPr id="6" name="Text 4"/>
          <p:cNvSpPr/>
          <p:nvPr/>
        </p:nvSpPr>
        <p:spPr>
          <a:xfrm>
            <a:off x="2834640" y="141732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Simulated Dataset</a:t>
            </a:r>
            <a:endParaRPr lang="en-US" sz="1300" dirty="0"/>
          </a:p>
        </p:txBody>
      </p:sp>
      <p:sp>
        <p:nvSpPr>
          <p:cNvPr id="7" name="Text 5"/>
          <p:cNvSpPr/>
          <p:nvPr/>
        </p:nvSpPr>
        <p:spPr>
          <a:xfrm>
            <a:off x="5943600" y="2057400"/>
            <a:ext cx="365760" cy="182880"/>
          </a:xfrm>
          <a:prstGeom prst="rect">
            <a:avLst/>
          </a:prstGeom>
          <a:noFill/>
          <a:ln/>
        </p:spPr>
        <p:txBody>
          <a:bodyPr wrap="square" lIns="0" tIns="0" rIns="0" bIns="0" rtlCol="0" anchor="ctr"/>
          <a:lstStyle/>
          <a:p>
            <a:pPr algn="ctr" indent="0" marL="0">
              <a:buNone/>
            </a:pPr>
            <a:r>
              <a:rPr lang="en-US" sz="1100" dirty="0">
                <a:solidFill>
                  <a:srgbClr val="C9A24B"/>
                </a:solidFill>
                <a:latin typeface="Calibri" pitchFamily="34" charset="0"/>
                <a:ea typeface="Calibri" pitchFamily="34" charset="-122"/>
                <a:cs typeface="Calibri" pitchFamily="34" charset="-120"/>
              </a:rPr>
              <a:t>▼</a:t>
            </a:r>
            <a:endParaRPr lang="en-US" sz="1100" dirty="0"/>
          </a:p>
        </p:txBody>
      </p:sp>
      <p:sp>
        <p:nvSpPr>
          <p:cNvPr id="8" name="Shape 6"/>
          <p:cNvSpPr/>
          <p:nvPr/>
        </p:nvSpPr>
        <p:spPr>
          <a:xfrm>
            <a:off x="2103120" y="2240280"/>
            <a:ext cx="8046720" cy="621792"/>
          </a:xfrm>
          <a:prstGeom prst="roundRect">
            <a:avLst>
              <a:gd name="adj" fmla="val 8824"/>
            </a:avLst>
          </a:prstGeom>
          <a:solidFill>
            <a:srgbClr val="FFFFFF"/>
          </a:solidFill>
          <a:ln/>
        </p:spPr>
      </p:sp>
      <p:sp>
        <p:nvSpPr>
          <p:cNvPr id="9" name="Shape 7"/>
          <p:cNvSpPr/>
          <p:nvPr/>
        </p:nvSpPr>
        <p:spPr>
          <a:xfrm>
            <a:off x="2240280" y="2340864"/>
            <a:ext cx="420624" cy="420624"/>
          </a:xfrm>
          <a:prstGeom prst="ellipse">
            <a:avLst/>
          </a:prstGeom>
          <a:solidFill>
            <a:srgbClr val="1B2151"/>
          </a:solidFill>
          <a:ln/>
        </p:spPr>
      </p:sp>
      <p:sp>
        <p:nvSpPr>
          <p:cNvPr id="10" name="Text 8"/>
          <p:cNvSpPr/>
          <p:nvPr/>
        </p:nvSpPr>
        <p:spPr>
          <a:xfrm>
            <a:off x="2240280" y="2340864"/>
            <a:ext cx="420624" cy="420624"/>
          </a:xfrm>
          <a:prstGeom prst="rect">
            <a:avLst/>
          </a:prstGeom>
          <a:noFill/>
          <a:ln/>
        </p:spPr>
        <p:txBody>
          <a:bodyPr wrap="square" lIns="0" tIns="0" rIns="0" bIns="0" rtlCol="0" anchor="ctr"/>
          <a:lstStyle/>
          <a:p>
            <a:pPr algn="ctr" indent="0" marL="0">
              <a:buNone/>
            </a:pPr>
            <a:endParaRPr lang="en-US" sz="1104" dirty="0"/>
          </a:p>
        </p:txBody>
      </p:sp>
      <p:sp>
        <p:nvSpPr>
          <p:cNvPr id="11" name="Text 9"/>
          <p:cNvSpPr/>
          <p:nvPr/>
        </p:nvSpPr>
        <p:spPr>
          <a:xfrm>
            <a:off x="2834640" y="224028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Exploratory Data Analysis</a:t>
            </a:r>
            <a:endParaRPr lang="en-US" sz="1300" dirty="0"/>
          </a:p>
        </p:txBody>
      </p:sp>
      <p:sp>
        <p:nvSpPr>
          <p:cNvPr id="12" name="Text 10"/>
          <p:cNvSpPr/>
          <p:nvPr/>
        </p:nvSpPr>
        <p:spPr>
          <a:xfrm>
            <a:off x="5943600" y="2880360"/>
            <a:ext cx="365760" cy="182880"/>
          </a:xfrm>
          <a:prstGeom prst="rect">
            <a:avLst/>
          </a:prstGeom>
          <a:noFill/>
          <a:ln/>
        </p:spPr>
        <p:txBody>
          <a:bodyPr wrap="square" lIns="0" tIns="0" rIns="0" bIns="0" rtlCol="0" anchor="ctr"/>
          <a:lstStyle/>
          <a:p>
            <a:pPr algn="ctr" indent="0" marL="0">
              <a:buNone/>
            </a:pPr>
            <a:r>
              <a:rPr lang="en-US" sz="1100" dirty="0">
                <a:solidFill>
                  <a:srgbClr val="C9A24B"/>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2103120" y="3063240"/>
            <a:ext cx="8046720" cy="621792"/>
          </a:xfrm>
          <a:prstGeom prst="roundRect">
            <a:avLst>
              <a:gd name="adj" fmla="val 8824"/>
            </a:avLst>
          </a:prstGeom>
          <a:solidFill>
            <a:srgbClr val="FFFFFF"/>
          </a:solidFill>
          <a:ln/>
        </p:spPr>
      </p:sp>
      <p:sp>
        <p:nvSpPr>
          <p:cNvPr id="14" name="Shape 12"/>
          <p:cNvSpPr/>
          <p:nvPr/>
        </p:nvSpPr>
        <p:spPr>
          <a:xfrm>
            <a:off x="2240280" y="3163824"/>
            <a:ext cx="420624" cy="420624"/>
          </a:xfrm>
          <a:prstGeom prst="ellipse">
            <a:avLst/>
          </a:prstGeom>
          <a:solidFill>
            <a:srgbClr val="1B2151"/>
          </a:solidFill>
          <a:ln/>
        </p:spPr>
      </p:sp>
      <p:sp>
        <p:nvSpPr>
          <p:cNvPr id="15" name="Text 13"/>
          <p:cNvSpPr/>
          <p:nvPr/>
        </p:nvSpPr>
        <p:spPr>
          <a:xfrm>
            <a:off x="2240280" y="3163824"/>
            <a:ext cx="420624" cy="420624"/>
          </a:xfrm>
          <a:prstGeom prst="rect">
            <a:avLst/>
          </a:prstGeom>
          <a:noFill/>
          <a:ln/>
        </p:spPr>
        <p:txBody>
          <a:bodyPr wrap="square" lIns="0" tIns="0" rIns="0" bIns="0" rtlCol="0" anchor="ctr"/>
          <a:lstStyle/>
          <a:p>
            <a:pPr algn="ctr" indent="0" marL="0">
              <a:buNone/>
            </a:pPr>
            <a:endParaRPr lang="en-US" sz="1104" dirty="0"/>
          </a:p>
        </p:txBody>
      </p:sp>
      <p:sp>
        <p:nvSpPr>
          <p:cNvPr id="16" name="Text 14"/>
          <p:cNvSpPr/>
          <p:nvPr/>
        </p:nvSpPr>
        <p:spPr>
          <a:xfrm>
            <a:off x="2834640" y="306324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Risk Profiling</a:t>
            </a:r>
            <a:endParaRPr lang="en-US" sz="1300" dirty="0"/>
          </a:p>
        </p:txBody>
      </p:sp>
      <p:sp>
        <p:nvSpPr>
          <p:cNvPr id="17" name="Text 15"/>
          <p:cNvSpPr/>
          <p:nvPr/>
        </p:nvSpPr>
        <p:spPr>
          <a:xfrm>
            <a:off x="5943600" y="3703320"/>
            <a:ext cx="365760" cy="182880"/>
          </a:xfrm>
          <a:prstGeom prst="rect">
            <a:avLst/>
          </a:prstGeom>
          <a:noFill/>
          <a:ln/>
        </p:spPr>
        <p:txBody>
          <a:bodyPr wrap="square" lIns="0" tIns="0" rIns="0" bIns="0" rtlCol="0" anchor="ctr"/>
          <a:lstStyle/>
          <a:p>
            <a:pPr algn="ctr" indent="0" marL="0">
              <a:buNone/>
            </a:pPr>
            <a:r>
              <a:rPr lang="en-US" sz="1100" dirty="0">
                <a:solidFill>
                  <a:srgbClr val="C9A24B"/>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2103120" y="3886200"/>
            <a:ext cx="8046720" cy="621792"/>
          </a:xfrm>
          <a:prstGeom prst="roundRect">
            <a:avLst>
              <a:gd name="adj" fmla="val 8824"/>
            </a:avLst>
          </a:prstGeom>
          <a:solidFill>
            <a:srgbClr val="FFFFFF"/>
          </a:solidFill>
          <a:ln/>
        </p:spPr>
      </p:sp>
      <p:sp>
        <p:nvSpPr>
          <p:cNvPr id="19" name="Shape 17"/>
          <p:cNvSpPr/>
          <p:nvPr/>
        </p:nvSpPr>
        <p:spPr>
          <a:xfrm>
            <a:off x="2240280" y="3986784"/>
            <a:ext cx="420624" cy="420624"/>
          </a:xfrm>
          <a:prstGeom prst="ellipse">
            <a:avLst/>
          </a:prstGeom>
          <a:solidFill>
            <a:srgbClr val="1B2151"/>
          </a:solidFill>
          <a:ln/>
        </p:spPr>
      </p:sp>
      <p:sp>
        <p:nvSpPr>
          <p:cNvPr id="20" name="Text 18"/>
          <p:cNvSpPr/>
          <p:nvPr/>
        </p:nvSpPr>
        <p:spPr>
          <a:xfrm>
            <a:off x="2240280" y="3986784"/>
            <a:ext cx="420624" cy="420624"/>
          </a:xfrm>
          <a:prstGeom prst="rect">
            <a:avLst/>
          </a:prstGeom>
          <a:noFill/>
          <a:ln/>
        </p:spPr>
        <p:txBody>
          <a:bodyPr wrap="square" lIns="0" tIns="0" rIns="0" bIns="0" rtlCol="0" anchor="ctr"/>
          <a:lstStyle/>
          <a:p>
            <a:pPr algn="ctr" indent="0" marL="0">
              <a:buNone/>
            </a:pPr>
            <a:endParaRPr lang="en-US" sz="1104" dirty="0"/>
          </a:p>
        </p:txBody>
      </p:sp>
      <p:sp>
        <p:nvSpPr>
          <p:cNvPr id="21" name="Text 19"/>
          <p:cNvSpPr/>
          <p:nvPr/>
        </p:nvSpPr>
        <p:spPr>
          <a:xfrm>
            <a:off x="2834640" y="388620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AI-Assisted Delinquency Prediction</a:t>
            </a:r>
            <a:endParaRPr lang="en-US" sz="1300" dirty="0"/>
          </a:p>
        </p:txBody>
      </p:sp>
      <p:sp>
        <p:nvSpPr>
          <p:cNvPr id="22" name="Text 20"/>
          <p:cNvSpPr/>
          <p:nvPr/>
        </p:nvSpPr>
        <p:spPr>
          <a:xfrm>
            <a:off x="5943600" y="4526280"/>
            <a:ext cx="365760" cy="182880"/>
          </a:xfrm>
          <a:prstGeom prst="rect">
            <a:avLst/>
          </a:prstGeom>
          <a:noFill/>
          <a:ln/>
        </p:spPr>
        <p:txBody>
          <a:bodyPr wrap="square" lIns="0" tIns="0" rIns="0" bIns="0" rtlCol="0" anchor="ctr"/>
          <a:lstStyle/>
          <a:p>
            <a:pPr algn="ctr" indent="0" marL="0">
              <a:buNone/>
            </a:pPr>
            <a:r>
              <a:rPr lang="en-US" sz="1100" dirty="0">
                <a:solidFill>
                  <a:srgbClr val="C9A24B"/>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2103120" y="4709160"/>
            <a:ext cx="8046720" cy="621792"/>
          </a:xfrm>
          <a:prstGeom prst="roundRect">
            <a:avLst>
              <a:gd name="adj" fmla="val 8824"/>
            </a:avLst>
          </a:prstGeom>
          <a:solidFill>
            <a:srgbClr val="FFFFFF"/>
          </a:solidFill>
          <a:ln/>
        </p:spPr>
      </p:sp>
      <p:sp>
        <p:nvSpPr>
          <p:cNvPr id="24" name="Shape 22"/>
          <p:cNvSpPr/>
          <p:nvPr/>
        </p:nvSpPr>
        <p:spPr>
          <a:xfrm>
            <a:off x="2240280" y="4809744"/>
            <a:ext cx="420624" cy="420624"/>
          </a:xfrm>
          <a:prstGeom prst="ellipse">
            <a:avLst/>
          </a:prstGeom>
          <a:solidFill>
            <a:srgbClr val="1B2151"/>
          </a:solidFill>
          <a:ln/>
        </p:spPr>
      </p:sp>
      <p:sp>
        <p:nvSpPr>
          <p:cNvPr id="25" name="Text 23"/>
          <p:cNvSpPr/>
          <p:nvPr/>
        </p:nvSpPr>
        <p:spPr>
          <a:xfrm>
            <a:off x="2240280" y="4809744"/>
            <a:ext cx="420624" cy="420624"/>
          </a:xfrm>
          <a:prstGeom prst="rect">
            <a:avLst/>
          </a:prstGeom>
          <a:noFill/>
          <a:ln/>
        </p:spPr>
        <p:txBody>
          <a:bodyPr wrap="square" lIns="0" tIns="0" rIns="0" bIns="0" rtlCol="0" anchor="ctr"/>
          <a:lstStyle/>
          <a:p>
            <a:pPr algn="ctr" indent="0" marL="0">
              <a:buNone/>
            </a:pPr>
            <a:endParaRPr lang="en-US" sz="1104" dirty="0"/>
          </a:p>
        </p:txBody>
      </p:sp>
      <p:sp>
        <p:nvSpPr>
          <p:cNvPr id="26" name="Text 24"/>
          <p:cNvSpPr/>
          <p:nvPr/>
        </p:nvSpPr>
        <p:spPr>
          <a:xfrm>
            <a:off x="2834640" y="470916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Business Report &amp; Data Storytelling</a:t>
            </a:r>
            <a:endParaRPr lang="en-US" sz="1300" dirty="0"/>
          </a:p>
        </p:txBody>
      </p:sp>
      <p:sp>
        <p:nvSpPr>
          <p:cNvPr id="27" name="Text 25"/>
          <p:cNvSpPr/>
          <p:nvPr/>
        </p:nvSpPr>
        <p:spPr>
          <a:xfrm>
            <a:off x="5943600" y="5349240"/>
            <a:ext cx="365760" cy="182880"/>
          </a:xfrm>
          <a:prstGeom prst="rect">
            <a:avLst/>
          </a:prstGeom>
          <a:noFill/>
          <a:ln/>
        </p:spPr>
        <p:txBody>
          <a:bodyPr wrap="square" lIns="0" tIns="0" rIns="0" bIns="0" rtlCol="0" anchor="ctr"/>
          <a:lstStyle/>
          <a:p>
            <a:pPr algn="ctr" indent="0" marL="0">
              <a:buNone/>
            </a:pPr>
            <a:r>
              <a:rPr lang="en-US" sz="1100" dirty="0">
                <a:solidFill>
                  <a:srgbClr val="C9A24B"/>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2103120" y="5532120"/>
            <a:ext cx="8046720" cy="621792"/>
          </a:xfrm>
          <a:prstGeom prst="roundRect">
            <a:avLst>
              <a:gd name="adj" fmla="val 8824"/>
            </a:avLst>
          </a:prstGeom>
          <a:solidFill>
            <a:srgbClr val="FFFFFF"/>
          </a:solidFill>
          <a:ln/>
        </p:spPr>
      </p:sp>
      <p:sp>
        <p:nvSpPr>
          <p:cNvPr id="29" name="Shape 27"/>
          <p:cNvSpPr/>
          <p:nvPr/>
        </p:nvSpPr>
        <p:spPr>
          <a:xfrm>
            <a:off x="2240280" y="5632704"/>
            <a:ext cx="420624" cy="420624"/>
          </a:xfrm>
          <a:prstGeom prst="ellipse">
            <a:avLst/>
          </a:prstGeom>
          <a:solidFill>
            <a:srgbClr val="1B2151"/>
          </a:solidFill>
          <a:ln/>
        </p:spPr>
      </p:sp>
      <p:sp>
        <p:nvSpPr>
          <p:cNvPr id="30" name="Text 28"/>
          <p:cNvSpPr/>
          <p:nvPr/>
        </p:nvSpPr>
        <p:spPr>
          <a:xfrm>
            <a:off x="2240280" y="5632704"/>
            <a:ext cx="420624" cy="420624"/>
          </a:xfrm>
          <a:prstGeom prst="rect">
            <a:avLst/>
          </a:prstGeom>
          <a:noFill/>
          <a:ln/>
        </p:spPr>
        <p:txBody>
          <a:bodyPr wrap="square" lIns="0" tIns="0" rIns="0" bIns="0" rtlCol="0" anchor="ctr"/>
          <a:lstStyle/>
          <a:p>
            <a:pPr algn="ctr" indent="0" marL="0">
              <a:buNone/>
            </a:pPr>
            <a:endParaRPr lang="en-US" sz="1104" dirty="0"/>
          </a:p>
        </p:txBody>
      </p:sp>
      <p:sp>
        <p:nvSpPr>
          <p:cNvPr id="31" name="Text 29"/>
          <p:cNvSpPr/>
          <p:nvPr/>
        </p:nvSpPr>
        <p:spPr>
          <a:xfrm>
            <a:off x="2834640" y="5532120"/>
            <a:ext cx="7132320" cy="621792"/>
          </a:xfrm>
          <a:prstGeom prst="rect">
            <a:avLst/>
          </a:prstGeom>
          <a:noFill/>
          <a:ln/>
        </p:spPr>
        <p:txBody>
          <a:bodyPr wrap="square" lIns="0" tIns="0" rIns="0" bIns="0" rtlCol="0" anchor="ctr"/>
          <a:lstStyle/>
          <a:p>
            <a:pPr indent="0" marL="0">
              <a:buNone/>
            </a:pPr>
            <a:r>
              <a:rPr lang="en-US" sz="1300" b="1" dirty="0">
                <a:solidFill>
                  <a:srgbClr val="1B2151"/>
                </a:solidFill>
                <a:latin typeface="Calibri" pitchFamily="34" charset="0"/>
                <a:ea typeface="Calibri" pitchFamily="34" charset="-122"/>
                <a:cs typeface="Calibri" pitchFamily="34" charset="-120"/>
              </a:rPr>
              <a:t>AI-Driven Collections Strategy</a:t>
            </a:r>
            <a:endParaRPr lang="en-US" sz="1300" dirty="0"/>
          </a:p>
        </p:txBody>
      </p:sp>
      <p:sp>
        <p:nvSpPr>
          <p:cNvPr id="32" name="Text 3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33" name="Text 31"/>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Methodology</a:t>
            </a:r>
            <a:endParaRPr lang="en-US" sz="3000" dirty="0"/>
          </a:p>
        </p:txBody>
      </p:sp>
      <p:sp>
        <p:nvSpPr>
          <p:cNvPr id="3" name="Shape 1"/>
          <p:cNvSpPr/>
          <p:nvPr/>
        </p:nvSpPr>
        <p:spPr>
          <a:xfrm>
            <a:off x="548640" y="1417320"/>
            <a:ext cx="10881360" cy="777240"/>
          </a:xfrm>
          <a:prstGeom prst="roundRect">
            <a:avLst>
              <a:gd name="adj" fmla="val 7059"/>
            </a:avLst>
          </a:prstGeom>
          <a:solidFill>
            <a:srgbClr val="F3F4F8"/>
          </a:solidFill>
          <a:ln/>
        </p:spPr>
      </p:sp>
      <p:sp>
        <p:nvSpPr>
          <p:cNvPr id="4" name="Shape 2"/>
          <p:cNvSpPr/>
          <p:nvPr/>
        </p:nvSpPr>
        <p:spPr>
          <a:xfrm>
            <a:off x="749808" y="1563624"/>
            <a:ext cx="475488" cy="475488"/>
          </a:xfrm>
          <a:prstGeom prst="ellipse">
            <a:avLst/>
          </a:prstGeom>
          <a:solidFill>
            <a:srgbClr val="1B2151"/>
          </a:solidFill>
          <a:ln/>
        </p:spPr>
      </p:sp>
      <p:sp>
        <p:nvSpPr>
          <p:cNvPr id="5" name="Text 3"/>
          <p:cNvSpPr/>
          <p:nvPr/>
        </p:nvSpPr>
        <p:spPr>
          <a:xfrm>
            <a:off x="749808" y="1563624"/>
            <a:ext cx="475488" cy="475488"/>
          </a:xfrm>
          <a:prstGeom prst="rect">
            <a:avLst/>
          </a:prstGeom>
          <a:noFill/>
          <a:ln/>
        </p:spPr>
        <p:txBody>
          <a:bodyPr wrap="square" lIns="0" tIns="0" rIns="0" bIns="0"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1</a:t>
            </a:r>
            <a:endParaRPr lang="en-US" sz="1248" dirty="0"/>
          </a:p>
        </p:txBody>
      </p:sp>
      <p:sp>
        <p:nvSpPr>
          <p:cNvPr id="6" name="Text 4"/>
          <p:cNvSpPr/>
          <p:nvPr/>
        </p:nvSpPr>
        <p:spPr>
          <a:xfrm>
            <a:off x="1463040" y="1417320"/>
            <a:ext cx="9692640" cy="777240"/>
          </a:xfrm>
          <a:prstGeom prst="rect">
            <a:avLst/>
          </a:prstGeom>
          <a:noFill/>
          <a:ln/>
        </p:spPr>
        <p:txBody>
          <a:bodyPr wrap="square" lIns="0" tIns="0" rIns="0" bIns="0" rtlCol="0" anchor="ctr"/>
          <a:lstStyle/>
          <a:p>
            <a:pPr indent="0" marL="0">
              <a:buNone/>
            </a:pPr>
            <a:r>
              <a:rPr lang="en-US" sz="1250" dirty="0">
                <a:solidFill>
                  <a:srgbClr val="1B2151"/>
                </a:solidFill>
                <a:latin typeface="Calibri" pitchFamily="34" charset="0"/>
                <a:ea typeface="Calibri" pitchFamily="34" charset="-122"/>
                <a:cs typeface="Calibri" pitchFamily="34" charset="-120"/>
              </a:rPr>
              <a:t>Explore the provided dataset and identify borrower-risk variables.</a:t>
            </a:r>
            <a:endParaRPr lang="en-US" sz="1250" dirty="0"/>
          </a:p>
        </p:txBody>
      </p:sp>
      <p:sp>
        <p:nvSpPr>
          <p:cNvPr id="7" name="Shape 5"/>
          <p:cNvSpPr/>
          <p:nvPr/>
        </p:nvSpPr>
        <p:spPr>
          <a:xfrm>
            <a:off x="548640" y="2331720"/>
            <a:ext cx="10881360" cy="777240"/>
          </a:xfrm>
          <a:prstGeom prst="roundRect">
            <a:avLst>
              <a:gd name="adj" fmla="val 7059"/>
            </a:avLst>
          </a:prstGeom>
          <a:solidFill>
            <a:srgbClr val="F3F4F8"/>
          </a:solidFill>
          <a:ln/>
        </p:spPr>
      </p:sp>
      <p:sp>
        <p:nvSpPr>
          <p:cNvPr id="8" name="Shape 6"/>
          <p:cNvSpPr/>
          <p:nvPr/>
        </p:nvSpPr>
        <p:spPr>
          <a:xfrm>
            <a:off x="749808" y="2478024"/>
            <a:ext cx="475488" cy="475488"/>
          </a:xfrm>
          <a:prstGeom prst="ellipse">
            <a:avLst/>
          </a:prstGeom>
          <a:solidFill>
            <a:srgbClr val="1B2151"/>
          </a:solidFill>
          <a:ln/>
        </p:spPr>
      </p:sp>
      <p:sp>
        <p:nvSpPr>
          <p:cNvPr id="9" name="Text 7"/>
          <p:cNvSpPr/>
          <p:nvPr/>
        </p:nvSpPr>
        <p:spPr>
          <a:xfrm>
            <a:off x="749808" y="2478024"/>
            <a:ext cx="475488" cy="475488"/>
          </a:xfrm>
          <a:prstGeom prst="rect">
            <a:avLst/>
          </a:prstGeom>
          <a:noFill/>
          <a:ln/>
        </p:spPr>
        <p:txBody>
          <a:bodyPr wrap="square" lIns="0" tIns="0" rIns="0" bIns="0"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2</a:t>
            </a:r>
            <a:endParaRPr lang="en-US" sz="1248" dirty="0"/>
          </a:p>
        </p:txBody>
      </p:sp>
      <p:sp>
        <p:nvSpPr>
          <p:cNvPr id="10" name="Text 8"/>
          <p:cNvSpPr/>
          <p:nvPr/>
        </p:nvSpPr>
        <p:spPr>
          <a:xfrm>
            <a:off x="1463040" y="2331720"/>
            <a:ext cx="9692640" cy="777240"/>
          </a:xfrm>
          <a:prstGeom prst="rect">
            <a:avLst/>
          </a:prstGeom>
          <a:noFill/>
          <a:ln/>
        </p:spPr>
        <p:txBody>
          <a:bodyPr wrap="square" lIns="0" tIns="0" rIns="0" bIns="0" rtlCol="0" anchor="ctr"/>
          <a:lstStyle/>
          <a:p>
            <a:pPr indent="0" marL="0">
              <a:buNone/>
            </a:pPr>
            <a:r>
              <a:rPr lang="en-US" sz="1250" dirty="0">
                <a:solidFill>
                  <a:srgbClr val="1B2151"/>
                </a:solidFill>
                <a:latin typeface="Calibri" pitchFamily="34" charset="0"/>
                <a:ea typeface="Calibri" pitchFamily="34" charset="-122"/>
                <a:cs typeface="Calibri" pitchFamily="34" charset="-120"/>
              </a:rPr>
              <a:t>Apply AI-assisted techniques to estimate delinquency likelihood.</a:t>
            </a:r>
            <a:endParaRPr lang="en-US" sz="1250" dirty="0"/>
          </a:p>
        </p:txBody>
      </p:sp>
      <p:sp>
        <p:nvSpPr>
          <p:cNvPr id="11" name="Shape 9"/>
          <p:cNvSpPr/>
          <p:nvPr/>
        </p:nvSpPr>
        <p:spPr>
          <a:xfrm>
            <a:off x="548640" y="3246120"/>
            <a:ext cx="10881360" cy="777240"/>
          </a:xfrm>
          <a:prstGeom prst="roundRect">
            <a:avLst>
              <a:gd name="adj" fmla="val 7059"/>
            </a:avLst>
          </a:prstGeom>
          <a:solidFill>
            <a:srgbClr val="F3F4F8"/>
          </a:solidFill>
          <a:ln/>
        </p:spPr>
      </p:sp>
      <p:sp>
        <p:nvSpPr>
          <p:cNvPr id="12" name="Shape 10"/>
          <p:cNvSpPr/>
          <p:nvPr/>
        </p:nvSpPr>
        <p:spPr>
          <a:xfrm>
            <a:off x="749808" y="3392424"/>
            <a:ext cx="475488" cy="475488"/>
          </a:xfrm>
          <a:prstGeom prst="ellipse">
            <a:avLst/>
          </a:prstGeom>
          <a:solidFill>
            <a:srgbClr val="1B2151"/>
          </a:solidFill>
          <a:ln/>
        </p:spPr>
      </p:sp>
      <p:sp>
        <p:nvSpPr>
          <p:cNvPr id="13" name="Text 11"/>
          <p:cNvSpPr/>
          <p:nvPr/>
        </p:nvSpPr>
        <p:spPr>
          <a:xfrm>
            <a:off x="749808" y="3392424"/>
            <a:ext cx="475488" cy="475488"/>
          </a:xfrm>
          <a:prstGeom prst="rect">
            <a:avLst/>
          </a:prstGeom>
          <a:noFill/>
          <a:ln/>
        </p:spPr>
        <p:txBody>
          <a:bodyPr wrap="square" lIns="0" tIns="0" rIns="0" bIns="0"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3</a:t>
            </a:r>
            <a:endParaRPr lang="en-US" sz="1248" dirty="0"/>
          </a:p>
        </p:txBody>
      </p:sp>
      <p:sp>
        <p:nvSpPr>
          <p:cNvPr id="14" name="Text 12"/>
          <p:cNvSpPr/>
          <p:nvPr/>
        </p:nvSpPr>
        <p:spPr>
          <a:xfrm>
            <a:off x="1463040" y="3246120"/>
            <a:ext cx="9692640" cy="777240"/>
          </a:xfrm>
          <a:prstGeom prst="rect">
            <a:avLst/>
          </a:prstGeom>
          <a:noFill/>
          <a:ln/>
        </p:spPr>
        <p:txBody>
          <a:bodyPr wrap="square" lIns="0" tIns="0" rIns="0" bIns="0" rtlCol="0" anchor="ctr"/>
          <a:lstStyle/>
          <a:p>
            <a:pPr indent="0" marL="0">
              <a:buNone/>
            </a:pPr>
            <a:r>
              <a:rPr lang="en-US" sz="1250" dirty="0">
                <a:solidFill>
                  <a:srgbClr val="1B2151"/>
                </a:solidFill>
                <a:latin typeface="Calibri" pitchFamily="34" charset="0"/>
                <a:ea typeface="Calibri" pitchFamily="34" charset="-122"/>
                <a:cs typeface="Calibri" pitchFamily="34" charset="-120"/>
              </a:rPr>
              <a:t>Convert analytical findings into a business report using data storytelling.</a:t>
            </a:r>
            <a:endParaRPr lang="en-US" sz="1250" dirty="0"/>
          </a:p>
        </p:txBody>
      </p:sp>
      <p:sp>
        <p:nvSpPr>
          <p:cNvPr id="15" name="Shape 13"/>
          <p:cNvSpPr/>
          <p:nvPr/>
        </p:nvSpPr>
        <p:spPr>
          <a:xfrm>
            <a:off x="548640" y="4160520"/>
            <a:ext cx="10881360" cy="777240"/>
          </a:xfrm>
          <a:prstGeom prst="roundRect">
            <a:avLst>
              <a:gd name="adj" fmla="val 7059"/>
            </a:avLst>
          </a:prstGeom>
          <a:solidFill>
            <a:srgbClr val="F3F4F8"/>
          </a:solidFill>
          <a:ln/>
        </p:spPr>
      </p:sp>
      <p:sp>
        <p:nvSpPr>
          <p:cNvPr id="16" name="Shape 14"/>
          <p:cNvSpPr/>
          <p:nvPr/>
        </p:nvSpPr>
        <p:spPr>
          <a:xfrm>
            <a:off x="749808" y="4306824"/>
            <a:ext cx="475488" cy="475488"/>
          </a:xfrm>
          <a:prstGeom prst="ellipse">
            <a:avLst/>
          </a:prstGeom>
          <a:solidFill>
            <a:srgbClr val="1B2151"/>
          </a:solidFill>
          <a:ln/>
        </p:spPr>
      </p:sp>
      <p:sp>
        <p:nvSpPr>
          <p:cNvPr id="17" name="Text 15"/>
          <p:cNvSpPr/>
          <p:nvPr/>
        </p:nvSpPr>
        <p:spPr>
          <a:xfrm>
            <a:off x="749808" y="4306824"/>
            <a:ext cx="475488" cy="475488"/>
          </a:xfrm>
          <a:prstGeom prst="rect">
            <a:avLst/>
          </a:prstGeom>
          <a:noFill/>
          <a:ln/>
        </p:spPr>
        <p:txBody>
          <a:bodyPr wrap="square" lIns="0" tIns="0" rIns="0" bIns="0" rtlCol="0" anchor="ctr"/>
          <a:lstStyle/>
          <a:p>
            <a:pPr algn="ctr" indent="0" marL="0">
              <a:buNone/>
            </a:pPr>
            <a:r>
              <a:rPr lang="en-US" sz="1248" b="1" dirty="0">
                <a:solidFill>
                  <a:srgbClr val="FFFFFF"/>
                </a:solidFill>
                <a:latin typeface="Calibri" pitchFamily="34" charset="0"/>
                <a:ea typeface="Calibri" pitchFamily="34" charset="-122"/>
                <a:cs typeface="Calibri" pitchFamily="34" charset="-120"/>
              </a:rPr>
              <a:t>4</a:t>
            </a:r>
            <a:endParaRPr lang="en-US" sz="1248" dirty="0"/>
          </a:p>
        </p:txBody>
      </p:sp>
      <p:sp>
        <p:nvSpPr>
          <p:cNvPr id="18" name="Text 16"/>
          <p:cNvSpPr/>
          <p:nvPr/>
        </p:nvSpPr>
        <p:spPr>
          <a:xfrm>
            <a:off x="1463040" y="4160520"/>
            <a:ext cx="9692640" cy="777240"/>
          </a:xfrm>
          <a:prstGeom prst="rect">
            <a:avLst/>
          </a:prstGeom>
          <a:noFill/>
          <a:ln/>
        </p:spPr>
        <p:txBody>
          <a:bodyPr wrap="square" lIns="0" tIns="0" rIns="0" bIns="0" rtlCol="0" anchor="ctr"/>
          <a:lstStyle/>
          <a:p>
            <a:pPr indent="0" marL="0">
              <a:buNone/>
            </a:pPr>
            <a:r>
              <a:rPr lang="en-US" sz="1250" dirty="0">
                <a:solidFill>
                  <a:srgbClr val="1B2151"/>
                </a:solidFill>
                <a:latin typeface="Calibri" pitchFamily="34" charset="0"/>
                <a:ea typeface="Calibri" pitchFamily="34" charset="-122"/>
                <a:cs typeface="Calibri" pitchFamily="34" charset="-120"/>
              </a:rPr>
              <a:t>Translate predictive findings into a proposed AI-driven collections strategy.</a:t>
            </a:r>
            <a:endParaRPr lang="en-US" sz="1250" dirty="0"/>
          </a:p>
        </p:txBody>
      </p:sp>
      <p:sp>
        <p:nvSpPr>
          <p:cNvPr id="19" name="Text 17"/>
          <p:cNvSpPr/>
          <p:nvPr/>
        </p:nvSpPr>
        <p:spPr>
          <a:xfrm>
            <a:off x="548640" y="5257800"/>
            <a:ext cx="10881360" cy="457200"/>
          </a:xfrm>
          <a:prstGeom prst="rect">
            <a:avLst/>
          </a:prstGeom>
          <a:noFill/>
          <a:ln/>
        </p:spPr>
        <p:txBody>
          <a:bodyPr wrap="square" lIns="0" tIns="0" rIns="0" bIns="0" rtlCol="0" anchor="ctr"/>
          <a:lstStyle/>
          <a:p>
            <a:pPr indent="0" marL="0">
              <a:buNone/>
            </a:pPr>
            <a:r>
              <a:rPr lang="en-US" sz="1150" i="1" dirty="0">
                <a:solidFill>
                  <a:srgbClr val="5A5F73"/>
                </a:solidFill>
                <a:latin typeface="Calibri" pitchFamily="34" charset="0"/>
                <a:ea typeface="Calibri" pitchFamily="34" charset="-122"/>
                <a:cs typeface="Calibri" pitchFamily="34" charset="-120"/>
              </a:rPr>
              <a:t>Generative AI was used as an aid to analysis, prediction, interpretation, and communication — within the guided structure provided by Forage and Tata Group.</a:t>
            </a:r>
            <a:endParaRPr lang="en-US" sz="11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21" name="Text 19"/>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Expected Outcomes &amp; Key Learnings</a:t>
            </a:r>
            <a:endParaRPr lang="en-US" sz="3000" dirty="0"/>
          </a:p>
        </p:txBody>
      </p:sp>
      <p:sp>
        <p:nvSpPr>
          <p:cNvPr id="3" name="Text 1"/>
          <p:cNvSpPr/>
          <p:nvPr/>
        </p:nvSpPr>
        <p:spPr>
          <a:xfrm>
            <a:off x="548640" y="1280160"/>
            <a:ext cx="5120640" cy="320040"/>
          </a:xfrm>
          <a:prstGeom prst="rect">
            <a:avLst/>
          </a:prstGeom>
          <a:noFill/>
          <a:ln/>
        </p:spPr>
        <p:txBody>
          <a:bodyPr wrap="square" lIns="0" tIns="0" rIns="0" bIns="0" rtlCol="0" anchor="ctr"/>
          <a:lstStyle/>
          <a:p>
            <a:pPr indent="0" marL="0">
              <a:buNone/>
            </a:pPr>
            <a:r>
              <a:rPr lang="en-US" sz="1200" b="1" spc="100" kern="0" dirty="0">
                <a:solidFill>
                  <a:srgbClr val="C9A24B"/>
                </a:solidFill>
                <a:latin typeface="Calibri" pitchFamily="34" charset="0"/>
                <a:ea typeface="Calibri" pitchFamily="34" charset="-122"/>
                <a:cs typeface="Calibri" pitchFamily="34" charset="-120"/>
              </a:rPr>
              <a:t>OUTCOMES</a:t>
            </a:r>
            <a:endParaRPr lang="en-US" sz="1200" dirty="0"/>
          </a:p>
        </p:txBody>
      </p:sp>
      <p:sp>
        <p:nvSpPr>
          <p:cNvPr id="4" name="Shape 2"/>
          <p:cNvSpPr/>
          <p:nvPr/>
        </p:nvSpPr>
        <p:spPr>
          <a:xfrm>
            <a:off x="548640" y="1691640"/>
            <a:ext cx="320040" cy="320040"/>
          </a:xfrm>
          <a:prstGeom prst="ellipse">
            <a:avLst/>
          </a:prstGeom>
          <a:solidFill>
            <a:srgbClr val="1B2151"/>
          </a:solidFill>
          <a:ln/>
        </p:spPr>
      </p:sp>
      <p:sp>
        <p:nvSpPr>
          <p:cNvPr id="5" name="Text 3"/>
          <p:cNvSpPr/>
          <p:nvPr/>
        </p:nvSpPr>
        <p:spPr>
          <a:xfrm>
            <a:off x="548640" y="1691640"/>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6" name="Text 4"/>
          <p:cNvSpPr/>
          <p:nvPr/>
        </p:nvSpPr>
        <p:spPr>
          <a:xfrm>
            <a:off x="1051560" y="1645920"/>
            <a:ext cx="466344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Completion of exploratory data analysis and borrower risk profiling</a:t>
            </a:r>
            <a:endParaRPr lang="en-US" sz="1200" dirty="0"/>
          </a:p>
        </p:txBody>
      </p:sp>
      <p:sp>
        <p:nvSpPr>
          <p:cNvPr id="7" name="Shape 5"/>
          <p:cNvSpPr/>
          <p:nvPr/>
        </p:nvSpPr>
        <p:spPr>
          <a:xfrm>
            <a:off x="548640" y="2350008"/>
            <a:ext cx="320040" cy="320040"/>
          </a:xfrm>
          <a:prstGeom prst="ellipse">
            <a:avLst/>
          </a:prstGeom>
          <a:solidFill>
            <a:srgbClr val="1B2151"/>
          </a:solidFill>
          <a:ln/>
        </p:spPr>
      </p:sp>
      <p:sp>
        <p:nvSpPr>
          <p:cNvPr id="8" name="Text 6"/>
          <p:cNvSpPr/>
          <p:nvPr/>
        </p:nvSpPr>
        <p:spPr>
          <a:xfrm>
            <a:off x="548640" y="2350008"/>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9" name="Text 7"/>
          <p:cNvSpPr/>
          <p:nvPr/>
        </p:nvSpPr>
        <p:spPr>
          <a:xfrm>
            <a:off x="1051560" y="2304288"/>
            <a:ext cx="466344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Application of AI-assisted delinquency prediction</a:t>
            </a:r>
            <a:endParaRPr lang="en-US" sz="1200" dirty="0"/>
          </a:p>
        </p:txBody>
      </p:sp>
      <p:sp>
        <p:nvSpPr>
          <p:cNvPr id="10" name="Shape 8"/>
          <p:cNvSpPr/>
          <p:nvPr/>
        </p:nvSpPr>
        <p:spPr>
          <a:xfrm>
            <a:off x="548640" y="3008376"/>
            <a:ext cx="320040" cy="320040"/>
          </a:xfrm>
          <a:prstGeom prst="ellipse">
            <a:avLst/>
          </a:prstGeom>
          <a:solidFill>
            <a:srgbClr val="1B2151"/>
          </a:solidFill>
          <a:ln/>
        </p:spPr>
      </p:sp>
      <p:sp>
        <p:nvSpPr>
          <p:cNvPr id="11" name="Text 9"/>
          <p:cNvSpPr/>
          <p:nvPr/>
        </p:nvSpPr>
        <p:spPr>
          <a:xfrm>
            <a:off x="548640" y="3008376"/>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12" name="Text 10"/>
          <p:cNvSpPr/>
          <p:nvPr/>
        </p:nvSpPr>
        <p:spPr>
          <a:xfrm>
            <a:off x="1051560" y="2962656"/>
            <a:ext cx="466344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Development of business reporting and data storytelling</a:t>
            </a:r>
            <a:endParaRPr lang="en-US" sz="1200" dirty="0"/>
          </a:p>
        </p:txBody>
      </p:sp>
      <p:sp>
        <p:nvSpPr>
          <p:cNvPr id="13" name="Shape 11"/>
          <p:cNvSpPr/>
          <p:nvPr/>
        </p:nvSpPr>
        <p:spPr>
          <a:xfrm>
            <a:off x="548640" y="3666744"/>
            <a:ext cx="320040" cy="320040"/>
          </a:xfrm>
          <a:prstGeom prst="ellipse">
            <a:avLst/>
          </a:prstGeom>
          <a:solidFill>
            <a:srgbClr val="1B2151"/>
          </a:solidFill>
          <a:ln/>
        </p:spPr>
      </p:sp>
      <p:sp>
        <p:nvSpPr>
          <p:cNvPr id="14" name="Text 12"/>
          <p:cNvSpPr/>
          <p:nvPr/>
        </p:nvSpPr>
        <p:spPr>
          <a:xfrm>
            <a:off x="548640" y="3666744"/>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15" name="Text 13"/>
          <p:cNvSpPr/>
          <p:nvPr/>
        </p:nvSpPr>
        <p:spPr>
          <a:xfrm>
            <a:off x="1051560" y="3621024"/>
            <a:ext cx="466344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Proposed AI-driven collections strategy</a:t>
            </a:r>
            <a:endParaRPr lang="en-US" sz="1200" dirty="0"/>
          </a:p>
        </p:txBody>
      </p:sp>
      <p:sp>
        <p:nvSpPr>
          <p:cNvPr id="16" name="Shape 14"/>
          <p:cNvSpPr/>
          <p:nvPr/>
        </p:nvSpPr>
        <p:spPr>
          <a:xfrm>
            <a:off x="5943600" y="1280160"/>
            <a:ext cx="0" cy="4297680"/>
          </a:xfrm>
          <a:prstGeom prst="line">
            <a:avLst/>
          </a:prstGeom>
          <a:noFill/>
          <a:ln w="12700">
            <a:solidFill>
              <a:srgbClr val="D9DBE8"/>
            </a:solidFill>
            <a:prstDash val="solid"/>
          </a:ln>
        </p:spPr>
      </p:sp>
      <p:sp>
        <p:nvSpPr>
          <p:cNvPr id="17" name="Text 15"/>
          <p:cNvSpPr/>
          <p:nvPr/>
        </p:nvSpPr>
        <p:spPr>
          <a:xfrm>
            <a:off x="6309360" y="1280160"/>
            <a:ext cx="5120640" cy="320040"/>
          </a:xfrm>
          <a:prstGeom prst="rect">
            <a:avLst/>
          </a:prstGeom>
          <a:noFill/>
          <a:ln/>
        </p:spPr>
        <p:txBody>
          <a:bodyPr wrap="square" lIns="0" tIns="0" rIns="0" bIns="0" rtlCol="0" anchor="ctr"/>
          <a:lstStyle/>
          <a:p>
            <a:pPr indent="0" marL="0">
              <a:buNone/>
            </a:pPr>
            <a:r>
              <a:rPr lang="en-US" sz="1200" b="1" spc="100" kern="0" dirty="0">
                <a:solidFill>
                  <a:srgbClr val="C9A24B"/>
                </a:solidFill>
                <a:latin typeface="Calibri" pitchFamily="34" charset="0"/>
                <a:ea typeface="Calibri" pitchFamily="34" charset="-122"/>
                <a:cs typeface="Calibri" pitchFamily="34" charset="-120"/>
              </a:rPr>
              <a:t>SKILLS DEVELOPED</a:t>
            </a:r>
            <a:endParaRPr lang="en-US" sz="1200" dirty="0"/>
          </a:p>
        </p:txBody>
      </p:sp>
      <p:sp>
        <p:nvSpPr>
          <p:cNvPr id="18" name="Shape 16"/>
          <p:cNvSpPr/>
          <p:nvPr/>
        </p:nvSpPr>
        <p:spPr>
          <a:xfrm>
            <a:off x="6309360" y="1691640"/>
            <a:ext cx="320040" cy="320040"/>
          </a:xfrm>
          <a:prstGeom prst="ellipse">
            <a:avLst/>
          </a:prstGeom>
          <a:solidFill>
            <a:srgbClr val="1B2151"/>
          </a:solidFill>
          <a:ln/>
        </p:spPr>
      </p:sp>
      <p:sp>
        <p:nvSpPr>
          <p:cNvPr id="19" name="Text 17"/>
          <p:cNvSpPr/>
          <p:nvPr/>
        </p:nvSpPr>
        <p:spPr>
          <a:xfrm>
            <a:off x="6309360" y="1691640"/>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20" name="Text 18"/>
          <p:cNvSpPr/>
          <p:nvPr/>
        </p:nvSpPr>
        <p:spPr>
          <a:xfrm>
            <a:off x="6812280" y="1645920"/>
            <a:ext cx="475488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Practical exposure to data analytics and Generative AI</a:t>
            </a:r>
            <a:endParaRPr lang="en-US" sz="1200" dirty="0"/>
          </a:p>
        </p:txBody>
      </p:sp>
      <p:sp>
        <p:nvSpPr>
          <p:cNvPr id="21" name="Shape 19"/>
          <p:cNvSpPr/>
          <p:nvPr/>
        </p:nvSpPr>
        <p:spPr>
          <a:xfrm>
            <a:off x="6309360" y="2350008"/>
            <a:ext cx="320040" cy="320040"/>
          </a:xfrm>
          <a:prstGeom prst="ellipse">
            <a:avLst/>
          </a:prstGeom>
          <a:solidFill>
            <a:srgbClr val="1B2151"/>
          </a:solidFill>
          <a:ln/>
        </p:spPr>
      </p:sp>
      <p:sp>
        <p:nvSpPr>
          <p:cNvPr id="22" name="Text 20"/>
          <p:cNvSpPr/>
          <p:nvPr/>
        </p:nvSpPr>
        <p:spPr>
          <a:xfrm>
            <a:off x="6309360" y="2350008"/>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23" name="Text 21"/>
          <p:cNvSpPr/>
          <p:nvPr/>
        </p:nvSpPr>
        <p:spPr>
          <a:xfrm>
            <a:off x="6812280" y="2304288"/>
            <a:ext cx="475488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Improved analytical thinking and interpretation</a:t>
            </a:r>
            <a:endParaRPr lang="en-US" sz="1200" dirty="0"/>
          </a:p>
        </p:txBody>
      </p:sp>
      <p:sp>
        <p:nvSpPr>
          <p:cNvPr id="24" name="Shape 22"/>
          <p:cNvSpPr/>
          <p:nvPr/>
        </p:nvSpPr>
        <p:spPr>
          <a:xfrm>
            <a:off x="6309360" y="3008376"/>
            <a:ext cx="320040" cy="320040"/>
          </a:xfrm>
          <a:prstGeom prst="ellipse">
            <a:avLst/>
          </a:prstGeom>
          <a:solidFill>
            <a:srgbClr val="1B2151"/>
          </a:solidFill>
          <a:ln/>
        </p:spPr>
      </p:sp>
      <p:sp>
        <p:nvSpPr>
          <p:cNvPr id="25" name="Text 23"/>
          <p:cNvSpPr/>
          <p:nvPr/>
        </p:nvSpPr>
        <p:spPr>
          <a:xfrm>
            <a:off x="6309360" y="3008376"/>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26" name="Text 24"/>
          <p:cNvSpPr/>
          <p:nvPr/>
        </p:nvSpPr>
        <p:spPr>
          <a:xfrm>
            <a:off x="6812280" y="2962656"/>
            <a:ext cx="475488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Stronger problem-solving skills</a:t>
            </a:r>
            <a:endParaRPr lang="en-US" sz="1200" dirty="0"/>
          </a:p>
        </p:txBody>
      </p:sp>
      <p:sp>
        <p:nvSpPr>
          <p:cNvPr id="27" name="Shape 25"/>
          <p:cNvSpPr/>
          <p:nvPr/>
        </p:nvSpPr>
        <p:spPr>
          <a:xfrm>
            <a:off x="6309360" y="3666744"/>
            <a:ext cx="320040" cy="320040"/>
          </a:xfrm>
          <a:prstGeom prst="ellipse">
            <a:avLst/>
          </a:prstGeom>
          <a:solidFill>
            <a:srgbClr val="1B2151"/>
          </a:solidFill>
          <a:ln/>
        </p:spPr>
      </p:sp>
      <p:sp>
        <p:nvSpPr>
          <p:cNvPr id="28" name="Text 26"/>
          <p:cNvSpPr/>
          <p:nvPr/>
        </p:nvSpPr>
        <p:spPr>
          <a:xfrm>
            <a:off x="6309360" y="3666744"/>
            <a:ext cx="320040" cy="320040"/>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
            </a:r>
            <a:endParaRPr lang="en-US" sz="840" dirty="0"/>
          </a:p>
        </p:txBody>
      </p:sp>
      <p:sp>
        <p:nvSpPr>
          <p:cNvPr id="29" name="Text 27"/>
          <p:cNvSpPr/>
          <p:nvPr/>
        </p:nvSpPr>
        <p:spPr>
          <a:xfrm>
            <a:off x="6812280" y="3621024"/>
            <a:ext cx="4754880" cy="457200"/>
          </a:xfrm>
          <a:prstGeom prst="rect">
            <a:avLst/>
          </a:prstGeom>
          <a:noFill/>
          <a:ln/>
        </p:spPr>
        <p:txBody>
          <a:bodyPr wrap="square" lIns="0" tIns="0" rIns="0" bIns="0" rtlCol="0" anchor="ctr"/>
          <a:lstStyle/>
          <a:p>
            <a:pPr indent="0" marL="0">
              <a:buNone/>
            </a:pPr>
            <a:r>
              <a:rPr lang="en-US" sz="1200" dirty="0">
                <a:solidFill>
                  <a:srgbClr val="5A5F73"/>
                </a:solidFill>
                <a:latin typeface="Calibri" pitchFamily="34" charset="0"/>
                <a:ea typeface="Calibri" pitchFamily="34" charset="-122"/>
                <a:cs typeface="Calibri" pitchFamily="34" charset="-120"/>
              </a:rPr>
              <a:t>Better business communication</a:t>
            </a:r>
            <a:endParaRPr lang="en-US" sz="1200" dirty="0"/>
          </a:p>
        </p:txBody>
      </p:sp>
      <p:sp>
        <p:nvSpPr>
          <p:cNvPr id="30" name="Text 2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31" name="Text 29"/>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dirty="0">
                <a:solidFill>
                  <a:srgbClr val="1B2151"/>
                </a:solidFill>
                <a:latin typeface="Georgia" pitchFamily="34" charset="0"/>
                <a:ea typeface="Georgia" pitchFamily="34" charset="-122"/>
                <a:cs typeface="Georgia" pitchFamily="34" charset="-120"/>
              </a:rPr>
              <a:t>Certificate of Completion</a:t>
            </a:r>
            <a:endParaRPr lang="en-US" sz="3000" dirty="0"/>
          </a:p>
        </p:txBody>
      </p:sp>
      <p:sp>
        <p:nvSpPr>
          <p:cNvPr id="3" name="Shape 1"/>
          <p:cNvSpPr/>
          <p:nvPr/>
        </p:nvSpPr>
        <p:spPr>
          <a:xfrm>
            <a:off x="2690958" y="1344168"/>
            <a:ext cx="6809780" cy="4855464"/>
          </a:xfrm>
          <a:prstGeom prst="roundRect">
            <a:avLst>
              <a:gd name="adj" fmla="val 942"/>
            </a:avLst>
          </a:prstGeom>
          <a:solidFill>
            <a:srgbClr val="FFFFFF"/>
          </a:solidFill>
          <a:ln w="12700">
            <a:solidFill>
              <a:srgbClr val="D9DBE8"/>
            </a:solidFill>
            <a:prstDash val="solid"/>
          </a:ln>
          <a:effectLst>
            <a:outerShdw sx="100000" sy="100000" kx="0" ky="0" algn="bl" rotWithShape="0" blurRad="101600" dist="38100" dir="5400000">
              <a:srgbClr val="000000">
                <a:alpha val="15000"/>
              </a:srgbClr>
            </a:outerShdw>
          </a:effectLst>
        </p:spPr>
      </p:sp>
      <p:pic>
        <p:nvPicPr>
          <p:cNvPr id="4" name="Image 0" descr="assets2/certificate_full-1.png">    </p:cNvPr>
          <p:cNvPicPr>
            <a:picLocks noChangeAspect="1"/>
          </p:cNvPicPr>
          <p:nvPr/>
        </p:nvPicPr>
        <p:blipFill>
          <a:blip r:embed="rId1"/>
          <a:stretch>
            <a:fillRect/>
          </a:stretch>
        </p:blipFill>
        <p:spPr>
          <a:xfrm>
            <a:off x="2764110" y="1417320"/>
            <a:ext cx="6663476" cy="4709160"/>
          </a:xfrm>
          <a:prstGeom prst="rect">
            <a:avLst/>
          </a:prstGeom>
        </p:spPr>
      </p:pic>
      <p:sp>
        <p:nvSpPr>
          <p:cNvPr id="5" name="Text 2"/>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8A8FA3"/>
                </a:solidFill>
                <a:latin typeface="Calibri" pitchFamily="34" charset="0"/>
                <a:ea typeface="Calibri" pitchFamily="34" charset="-122"/>
                <a:cs typeface="Calibri" pitchFamily="34" charset="-120"/>
              </a:rPr>
              <a:t>IILM University  |  B.Tech CSE  |  Sushil Kumar</a:t>
            </a:r>
            <a:endParaRPr lang="en-US" sz="900" dirty="0"/>
          </a:p>
        </p:txBody>
      </p:sp>
      <p:sp>
        <p:nvSpPr>
          <p:cNvPr id="6" name="Text 3"/>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900" dirty="0">
                <a:solidFill>
                  <a:srgbClr val="8A8F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151"/>
        </a:solidFill>
      </p:bgPr>
    </p:bg>
    <p:spTree>
      <p:nvGrpSpPr>
        <p:cNvPr id="1" name=""/>
        <p:cNvGrpSpPr/>
        <p:nvPr/>
      </p:nvGrpSpPr>
      <p:grpSpPr>
        <a:xfrm>
          <a:off x="0" y="0"/>
          <a:ext cx="0" cy="0"/>
          <a:chOff x="0" y="0"/>
          <a:chExt cx="0" cy="0"/>
        </a:xfrm>
      </p:grpSpPr>
      <p:sp>
        <p:nvSpPr>
          <p:cNvPr id="2" name="Text 0"/>
          <p:cNvSpPr/>
          <p:nvPr/>
        </p:nvSpPr>
        <p:spPr>
          <a:xfrm>
            <a:off x="548640" y="548640"/>
            <a:ext cx="7315200" cy="640080"/>
          </a:xfrm>
          <a:prstGeom prst="rect">
            <a:avLst/>
          </a:prstGeom>
          <a:noFill/>
          <a:ln/>
        </p:spPr>
        <p:txBody>
          <a:bodyPr wrap="square" lIns="0" tIns="0" rIns="0" bIns="0" rtlCol="0" anchor="ctr"/>
          <a:lstStyle/>
          <a:p>
            <a:pPr indent="0" marL="0">
              <a:buNone/>
            </a:pPr>
            <a:r>
              <a:rPr lang="en-US" sz="3000" dirty="0">
                <a:solidFill>
                  <a:srgbClr val="FFFFFF"/>
                </a:solidFill>
                <a:latin typeface="Georgia" pitchFamily="34" charset="0"/>
                <a:ea typeface="Georgia" pitchFamily="34" charset="-122"/>
                <a:cs typeface="Georgia" pitchFamily="34" charset="-120"/>
              </a:rPr>
              <a:t>Conclusion</a:t>
            </a:r>
            <a:endParaRPr lang="en-US" sz="3000" dirty="0"/>
          </a:p>
        </p:txBody>
      </p:sp>
      <p:sp>
        <p:nvSpPr>
          <p:cNvPr id="3" name="Shape 1"/>
          <p:cNvSpPr/>
          <p:nvPr/>
        </p:nvSpPr>
        <p:spPr>
          <a:xfrm>
            <a:off x="548640" y="1463040"/>
            <a:ext cx="365760" cy="365760"/>
          </a:xfrm>
          <a:prstGeom prst="ellipse">
            <a:avLst/>
          </a:prstGeom>
          <a:solidFill>
            <a:srgbClr val="C9A24B"/>
          </a:solidFill>
          <a:ln/>
        </p:spPr>
      </p:sp>
      <p:sp>
        <p:nvSpPr>
          <p:cNvPr id="4" name="Text 2"/>
          <p:cNvSpPr/>
          <p:nvPr/>
        </p:nvSpPr>
        <p:spPr>
          <a:xfrm>
            <a:off x="548640" y="1463040"/>
            <a:ext cx="365760" cy="365760"/>
          </a:xfrm>
          <a:prstGeom prst="rect">
            <a:avLst/>
          </a:prstGeom>
          <a:noFill/>
          <a:ln/>
        </p:spPr>
        <p:txBody>
          <a:bodyPr wrap="square" lIns="0" tIns="0" rIns="0" bIns="0" rtlCol="0" anchor="ctr"/>
          <a:lstStyle/>
          <a:p>
            <a:pPr algn="ctr" indent="0" marL="0">
              <a:buNone/>
            </a:pPr>
            <a:r>
              <a:rPr lang="en-US" sz="960" b="1" dirty="0">
                <a:solidFill>
                  <a:srgbClr val="FFFFFF"/>
                </a:solidFill>
                <a:latin typeface="Calibri" pitchFamily="34" charset="0"/>
                <a:ea typeface="Calibri" pitchFamily="34" charset="-122"/>
                <a:cs typeface="Calibri" pitchFamily="34" charset="-120"/>
              </a:rPr>
              <a:t>•</a:t>
            </a:r>
            <a:endParaRPr lang="en-US" sz="960" dirty="0"/>
          </a:p>
        </p:txBody>
      </p:sp>
      <p:sp>
        <p:nvSpPr>
          <p:cNvPr id="5" name="Text 3"/>
          <p:cNvSpPr/>
          <p:nvPr/>
        </p:nvSpPr>
        <p:spPr>
          <a:xfrm>
            <a:off x="1143000" y="1389888"/>
            <a:ext cx="9875520" cy="502920"/>
          </a:xfrm>
          <a:prstGeom prst="rect">
            <a:avLst/>
          </a:prstGeom>
          <a:noFill/>
          <a:ln/>
        </p:spPr>
        <p:txBody>
          <a:bodyPr wrap="square" lIns="0" tIns="0" rIns="0" bIns="0" rtlCol="0" anchor="ctr"/>
          <a:lstStyle/>
          <a:p>
            <a:pPr indent="0" marL="0">
              <a:buNone/>
            </a:pPr>
            <a:r>
              <a:rPr lang="en-US" sz="1350" dirty="0">
                <a:solidFill>
                  <a:srgbClr val="E6E8F5"/>
                </a:solidFill>
                <a:latin typeface="Calibri" pitchFamily="34" charset="0"/>
                <a:ea typeface="Calibri" pitchFamily="34" charset="-122"/>
                <a:cs typeface="Calibri" pitchFamily="34" charset="-120"/>
              </a:rPr>
              <a:t>Practical exposure to data analytics and AI-assisted business problem-solving</a:t>
            </a:r>
            <a:endParaRPr lang="en-US" sz="1350" dirty="0"/>
          </a:p>
        </p:txBody>
      </p:sp>
      <p:sp>
        <p:nvSpPr>
          <p:cNvPr id="6" name="Shape 4"/>
          <p:cNvSpPr/>
          <p:nvPr/>
        </p:nvSpPr>
        <p:spPr>
          <a:xfrm>
            <a:off x="548640" y="2121408"/>
            <a:ext cx="365760" cy="365760"/>
          </a:xfrm>
          <a:prstGeom prst="ellipse">
            <a:avLst/>
          </a:prstGeom>
          <a:solidFill>
            <a:srgbClr val="C9A24B"/>
          </a:solidFill>
          <a:ln/>
        </p:spPr>
      </p:sp>
      <p:sp>
        <p:nvSpPr>
          <p:cNvPr id="7" name="Text 5"/>
          <p:cNvSpPr/>
          <p:nvPr/>
        </p:nvSpPr>
        <p:spPr>
          <a:xfrm>
            <a:off x="548640" y="2121408"/>
            <a:ext cx="365760" cy="365760"/>
          </a:xfrm>
          <a:prstGeom prst="rect">
            <a:avLst/>
          </a:prstGeom>
          <a:noFill/>
          <a:ln/>
        </p:spPr>
        <p:txBody>
          <a:bodyPr wrap="square" lIns="0" tIns="0" rIns="0" bIns="0" rtlCol="0" anchor="ctr"/>
          <a:lstStyle/>
          <a:p>
            <a:pPr algn="ctr" indent="0" marL="0">
              <a:buNone/>
            </a:pPr>
            <a:r>
              <a:rPr lang="en-US" sz="960" b="1" dirty="0">
                <a:solidFill>
                  <a:srgbClr val="FFFFFF"/>
                </a:solidFill>
                <a:latin typeface="Calibri" pitchFamily="34" charset="0"/>
                <a:ea typeface="Calibri" pitchFamily="34" charset="-122"/>
                <a:cs typeface="Calibri" pitchFamily="34" charset="-120"/>
              </a:rPr>
              <a:t>•</a:t>
            </a:r>
            <a:endParaRPr lang="en-US" sz="960" dirty="0"/>
          </a:p>
        </p:txBody>
      </p:sp>
      <p:sp>
        <p:nvSpPr>
          <p:cNvPr id="8" name="Text 6"/>
          <p:cNvSpPr/>
          <p:nvPr/>
        </p:nvSpPr>
        <p:spPr>
          <a:xfrm>
            <a:off x="1143000" y="2048256"/>
            <a:ext cx="9875520" cy="502920"/>
          </a:xfrm>
          <a:prstGeom prst="rect">
            <a:avLst/>
          </a:prstGeom>
          <a:noFill/>
          <a:ln/>
        </p:spPr>
        <p:txBody>
          <a:bodyPr wrap="square" lIns="0" tIns="0" rIns="0" bIns="0" rtlCol="0" anchor="ctr"/>
          <a:lstStyle/>
          <a:p>
            <a:pPr indent="0" marL="0">
              <a:buNone/>
            </a:pPr>
            <a:r>
              <a:rPr lang="en-US" sz="1350" dirty="0">
                <a:solidFill>
                  <a:srgbClr val="E6E8F5"/>
                </a:solidFill>
                <a:latin typeface="Calibri" pitchFamily="34" charset="0"/>
                <a:ea typeface="Calibri" pitchFamily="34" charset="-122"/>
                <a:cs typeface="Calibri" pitchFamily="34" charset="-120"/>
              </a:rPr>
              <a:t>Understanding of credit risk and collections</a:t>
            </a:r>
            <a:endParaRPr lang="en-US" sz="1350" dirty="0"/>
          </a:p>
        </p:txBody>
      </p:sp>
      <p:sp>
        <p:nvSpPr>
          <p:cNvPr id="9" name="Shape 7"/>
          <p:cNvSpPr/>
          <p:nvPr/>
        </p:nvSpPr>
        <p:spPr>
          <a:xfrm>
            <a:off x="548640" y="2779776"/>
            <a:ext cx="365760" cy="365760"/>
          </a:xfrm>
          <a:prstGeom prst="ellipse">
            <a:avLst/>
          </a:prstGeom>
          <a:solidFill>
            <a:srgbClr val="C9A24B"/>
          </a:solidFill>
          <a:ln/>
        </p:spPr>
      </p:sp>
      <p:sp>
        <p:nvSpPr>
          <p:cNvPr id="10" name="Text 8"/>
          <p:cNvSpPr/>
          <p:nvPr/>
        </p:nvSpPr>
        <p:spPr>
          <a:xfrm>
            <a:off x="548640" y="2779776"/>
            <a:ext cx="365760" cy="365760"/>
          </a:xfrm>
          <a:prstGeom prst="rect">
            <a:avLst/>
          </a:prstGeom>
          <a:noFill/>
          <a:ln/>
        </p:spPr>
        <p:txBody>
          <a:bodyPr wrap="square" lIns="0" tIns="0" rIns="0" bIns="0" rtlCol="0" anchor="ctr"/>
          <a:lstStyle/>
          <a:p>
            <a:pPr algn="ctr" indent="0" marL="0">
              <a:buNone/>
            </a:pPr>
            <a:r>
              <a:rPr lang="en-US" sz="960" b="1" dirty="0">
                <a:solidFill>
                  <a:srgbClr val="FFFFFF"/>
                </a:solidFill>
                <a:latin typeface="Calibri" pitchFamily="34" charset="0"/>
                <a:ea typeface="Calibri" pitchFamily="34" charset="-122"/>
                <a:cs typeface="Calibri" pitchFamily="34" charset="-120"/>
              </a:rPr>
              <a:t>•</a:t>
            </a:r>
            <a:endParaRPr lang="en-US" sz="960" dirty="0"/>
          </a:p>
        </p:txBody>
      </p:sp>
      <p:sp>
        <p:nvSpPr>
          <p:cNvPr id="11" name="Text 9"/>
          <p:cNvSpPr/>
          <p:nvPr/>
        </p:nvSpPr>
        <p:spPr>
          <a:xfrm>
            <a:off x="1143000" y="2706624"/>
            <a:ext cx="9875520" cy="502920"/>
          </a:xfrm>
          <a:prstGeom prst="rect">
            <a:avLst/>
          </a:prstGeom>
          <a:noFill/>
          <a:ln/>
        </p:spPr>
        <p:txBody>
          <a:bodyPr wrap="square" lIns="0" tIns="0" rIns="0" bIns="0" rtlCol="0" anchor="ctr"/>
          <a:lstStyle/>
          <a:p>
            <a:pPr indent="0" marL="0">
              <a:buNone/>
            </a:pPr>
            <a:r>
              <a:rPr lang="en-US" sz="1350" dirty="0">
                <a:solidFill>
                  <a:srgbClr val="E6E8F5"/>
                </a:solidFill>
                <a:latin typeface="Calibri" pitchFamily="34" charset="0"/>
                <a:ea typeface="Calibri" pitchFamily="34" charset="-122"/>
                <a:cs typeface="Calibri" pitchFamily="34" charset="-120"/>
              </a:rPr>
              <a:t>Experience with exploratory analysis and delinquency prediction</a:t>
            </a:r>
            <a:endParaRPr lang="en-US" sz="1350" dirty="0"/>
          </a:p>
        </p:txBody>
      </p:sp>
      <p:sp>
        <p:nvSpPr>
          <p:cNvPr id="12" name="Shape 10"/>
          <p:cNvSpPr/>
          <p:nvPr/>
        </p:nvSpPr>
        <p:spPr>
          <a:xfrm>
            <a:off x="548640" y="3438144"/>
            <a:ext cx="365760" cy="365760"/>
          </a:xfrm>
          <a:prstGeom prst="ellipse">
            <a:avLst/>
          </a:prstGeom>
          <a:solidFill>
            <a:srgbClr val="C9A24B"/>
          </a:solidFill>
          <a:ln/>
        </p:spPr>
      </p:sp>
      <p:sp>
        <p:nvSpPr>
          <p:cNvPr id="13" name="Text 11"/>
          <p:cNvSpPr/>
          <p:nvPr/>
        </p:nvSpPr>
        <p:spPr>
          <a:xfrm>
            <a:off x="548640" y="3438144"/>
            <a:ext cx="365760" cy="365760"/>
          </a:xfrm>
          <a:prstGeom prst="rect">
            <a:avLst/>
          </a:prstGeom>
          <a:noFill/>
          <a:ln/>
        </p:spPr>
        <p:txBody>
          <a:bodyPr wrap="square" lIns="0" tIns="0" rIns="0" bIns="0" rtlCol="0" anchor="ctr"/>
          <a:lstStyle/>
          <a:p>
            <a:pPr algn="ctr" indent="0" marL="0">
              <a:buNone/>
            </a:pPr>
            <a:r>
              <a:rPr lang="en-US" sz="960" b="1" dirty="0">
                <a:solidFill>
                  <a:srgbClr val="FFFFFF"/>
                </a:solidFill>
                <a:latin typeface="Calibri" pitchFamily="34" charset="0"/>
                <a:ea typeface="Calibri" pitchFamily="34" charset="-122"/>
                <a:cs typeface="Calibri" pitchFamily="34" charset="-120"/>
              </a:rPr>
              <a:t>•</a:t>
            </a:r>
            <a:endParaRPr lang="en-US" sz="960" dirty="0"/>
          </a:p>
        </p:txBody>
      </p:sp>
      <p:sp>
        <p:nvSpPr>
          <p:cNvPr id="14" name="Text 12"/>
          <p:cNvSpPr/>
          <p:nvPr/>
        </p:nvSpPr>
        <p:spPr>
          <a:xfrm>
            <a:off x="1143000" y="3364992"/>
            <a:ext cx="9875520" cy="502920"/>
          </a:xfrm>
          <a:prstGeom prst="rect">
            <a:avLst/>
          </a:prstGeom>
          <a:noFill/>
          <a:ln/>
        </p:spPr>
        <p:txBody>
          <a:bodyPr wrap="square" lIns="0" tIns="0" rIns="0" bIns="0" rtlCol="0" anchor="ctr"/>
          <a:lstStyle/>
          <a:p>
            <a:pPr indent="0" marL="0">
              <a:buNone/>
            </a:pPr>
            <a:r>
              <a:rPr lang="en-US" sz="1350" dirty="0">
                <a:solidFill>
                  <a:srgbClr val="E6E8F5"/>
                </a:solidFill>
                <a:latin typeface="Calibri" pitchFamily="34" charset="0"/>
                <a:ea typeface="Calibri" pitchFamily="34" charset="-122"/>
                <a:cs typeface="Calibri" pitchFamily="34" charset="-120"/>
              </a:rPr>
              <a:t>Experience in business data storytelling</a:t>
            </a:r>
            <a:endParaRPr lang="en-US" sz="1350" dirty="0"/>
          </a:p>
        </p:txBody>
      </p:sp>
      <p:sp>
        <p:nvSpPr>
          <p:cNvPr id="15" name="Shape 13"/>
          <p:cNvSpPr/>
          <p:nvPr/>
        </p:nvSpPr>
        <p:spPr>
          <a:xfrm>
            <a:off x="548640" y="4096512"/>
            <a:ext cx="365760" cy="365760"/>
          </a:xfrm>
          <a:prstGeom prst="ellipse">
            <a:avLst/>
          </a:prstGeom>
          <a:solidFill>
            <a:srgbClr val="C9A24B"/>
          </a:solidFill>
          <a:ln/>
        </p:spPr>
      </p:sp>
      <p:sp>
        <p:nvSpPr>
          <p:cNvPr id="16" name="Text 14"/>
          <p:cNvSpPr/>
          <p:nvPr/>
        </p:nvSpPr>
        <p:spPr>
          <a:xfrm>
            <a:off x="548640" y="4096512"/>
            <a:ext cx="365760" cy="365760"/>
          </a:xfrm>
          <a:prstGeom prst="rect">
            <a:avLst/>
          </a:prstGeom>
          <a:noFill/>
          <a:ln/>
        </p:spPr>
        <p:txBody>
          <a:bodyPr wrap="square" lIns="0" tIns="0" rIns="0" bIns="0" rtlCol="0" anchor="ctr"/>
          <a:lstStyle/>
          <a:p>
            <a:pPr algn="ctr" indent="0" marL="0">
              <a:buNone/>
            </a:pPr>
            <a:r>
              <a:rPr lang="en-US" sz="960" b="1" dirty="0">
                <a:solidFill>
                  <a:srgbClr val="FFFFFF"/>
                </a:solidFill>
                <a:latin typeface="Calibri" pitchFamily="34" charset="0"/>
                <a:ea typeface="Calibri" pitchFamily="34" charset="-122"/>
                <a:cs typeface="Calibri" pitchFamily="34" charset="-120"/>
              </a:rPr>
              <a:t>•</a:t>
            </a:r>
            <a:endParaRPr lang="en-US" sz="960" dirty="0"/>
          </a:p>
        </p:txBody>
      </p:sp>
      <p:sp>
        <p:nvSpPr>
          <p:cNvPr id="17" name="Text 15"/>
          <p:cNvSpPr/>
          <p:nvPr/>
        </p:nvSpPr>
        <p:spPr>
          <a:xfrm>
            <a:off x="1143000" y="4023360"/>
            <a:ext cx="9875520" cy="502920"/>
          </a:xfrm>
          <a:prstGeom prst="rect">
            <a:avLst/>
          </a:prstGeom>
          <a:noFill/>
          <a:ln/>
        </p:spPr>
        <p:txBody>
          <a:bodyPr wrap="square" lIns="0" tIns="0" rIns="0" bIns="0" rtlCol="0" anchor="ctr"/>
          <a:lstStyle/>
          <a:p>
            <a:pPr indent="0" marL="0">
              <a:buNone/>
            </a:pPr>
            <a:r>
              <a:rPr lang="en-US" sz="1350" dirty="0">
                <a:solidFill>
                  <a:srgbClr val="E6E8F5"/>
                </a:solidFill>
                <a:latin typeface="Calibri" pitchFamily="34" charset="0"/>
                <a:ea typeface="Calibri" pitchFamily="34" charset="-122"/>
                <a:cs typeface="Calibri" pitchFamily="34" charset="-120"/>
              </a:rPr>
              <a:t>Understanding of AI-driven collections strategy</a:t>
            </a:r>
            <a:endParaRPr lang="en-US" sz="1350" dirty="0"/>
          </a:p>
        </p:txBody>
      </p:sp>
      <p:sp>
        <p:nvSpPr>
          <p:cNvPr id="18" name="Shape 16"/>
          <p:cNvSpPr/>
          <p:nvPr/>
        </p:nvSpPr>
        <p:spPr>
          <a:xfrm>
            <a:off x="548640" y="5349240"/>
            <a:ext cx="11064240" cy="0"/>
          </a:xfrm>
          <a:prstGeom prst="line">
            <a:avLst/>
          </a:prstGeom>
          <a:noFill/>
          <a:ln w="12700">
            <a:solidFill>
              <a:srgbClr val="3B4380"/>
            </a:solidFill>
            <a:prstDash val="solid"/>
          </a:ln>
        </p:spPr>
      </p:sp>
      <p:sp>
        <p:nvSpPr>
          <p:cNvPr id="19" name="Text 17"/>
          <p:cNvSpPr/>
          <p:nvPr/>
        </p:nvSpPr>
        <p:spPr>
          <a:xfrm>
            <a:off x="548640" y="5577840"/>
            <a:ext cx="11064240" cy="822960"/>
          </a:xfrm>
          <a:prstGeom prst="rect">
            <a:avLst/>
          </a:prstGeom>
          <a:noFill/>
          <a:ln/>
        </p:spPr>
        <p:txBody>
          <a:bodyPr wrap="square" lIns="0" tIns="0" rIns="0" bIns="0" rtlCol="0" anchor="ctr"/>
          <a:lstStyle/>
          <a:p>
            <a:pPr algn="ctr" indent="0" marL="0">
              <a:buNone/>
            </a:pPr>
            <a:r>
              <a:rPr lang="en-US" sz="3400" dirty="0">
                <a:solidFill>
                  <a:srgbClr val="C9A24B"/>
                </a:solidFill>
                <a:latin typeface="Georgia" pitchFamily="34" charset="0"/>
                <a:ea typeface="Georgia" pitchFamily="34" charset="-122"/>
                <a:cs typeface="Georgia" pitchFamily="34" charset="-120"/>
              </a:rPr>
              <a:t>THANK YOU</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2026-08-30T17:05:59Z</dcterms:created>
  <dcterms:modified xsi:type="dcterms:W3CDTF">2026-08-30T17:05:59Z</dcterms:modified>
</cp:coreProperties>
</file>